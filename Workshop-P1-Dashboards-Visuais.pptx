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e8f741b025_6_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e8f741b025_6_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e8f741b025_6_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e8f741b025_6_1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g3e8f741b025_6_1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g3e8f741b025_6_1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8f741b025_6_4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g3e8f741b025_6_4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e8f741b025_6_4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e8f741b025_6_7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e8f741b025_6_7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3e8f741b025_6_7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e8f741b025_6_9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g3e8f741b025_6_9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e8f741b025_6_9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e8f741b025_6_11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g3e8f741b025_6_11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e8f741b025_6_11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e8f741b025_6_13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g3e8f741b025_6_13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3e8f741b025_6_13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e8f741b025_6_17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g3e8f741b025_6_17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g3e8f741b025_6_17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e8f741b025_6_20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g3e8f741b025_6_20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g3e8f741b025_6_20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e8f741b025_6_22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g3e8f741b025_6_22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g3e8f741b025_6_22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e8f741b025_6_24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g3e8f741b025_6_24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g3e8f741b025_6_24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e8f741b025_6_28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g3e8f741b025_6_28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g3e8f741b025_6_28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e8f741b025_6_31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1" name="Google Shape;381;g3e8f741b025_6_31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g3e8f741b025_6_31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e8f741b025_6_34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9" name="Google Shape;409;g3e8f741b025_6_34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g3e8f741b025_6_34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e8f741b025_6_36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1" name="Google Shape;431;g3e8f741b025_6_36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g3e8f741b025_6_36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5"/>
          <p:cNvSpPr/>
          <p:nvPr/>
        </p:nvSpPr>
        <p:spPr>
          <a:xfrm>
            <a:off x="457200" y="1005840"/>
            <a:ext cx="8229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libri"/>
              <a:buNone/>
            </a:pPr>
            <a:r>
              <a:rPr b="1" i="0" lang="pt-BR" sz="4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Dashboards Visuais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5"/>
          <p:cNvSpPr/>
          <p:nvPr/>
        </p:nvSpPr>
        <p:spPr>
          <a:xfrm>
            <a:off x="457200" y="22402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CAF9"/>
              </a:buClr>
              <a:buSzPts val="1800"/>
              <a:buFont typeface="Calibri"/>
              <a:buNone/>
            </a:pPr>
            <a:r>
              <a:rPr b="0" i="0" lang="pt-BR" sz="1800" u="none" cap="none" strike="noStrike">
                <a:solidFill>
                  <a:srgbClr val="90CAF9"/>
                </a:solidFill>
                <a:latin typeface="Calibri"/>
                <a:ea typeface="Calibri"/>
                <a:cs typeface="Calibri"/>
                <a:sym typeface="Calibri"/>
              </a:rPr>
              <a:t>Workshop P1 — Redes de Computadores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5"/>
          <p:cNvSpPr/>
          <p:nvPr/>
        </p:nvSpPr>
        <p:spPr>
          <a:xfrm>
            <a:off x="1120140" y="2971800"/>
            <a:ext cx="1554480" cy="347472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F57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5"/>
          <p:cNvSpPr/>
          <p:nvPr/>
        </p:nvSpPr>
        <p:spPr>
          <a:xfrm>
            <a:off x="1120140" y="2971800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7C00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F57C00"/>
                </a:solidFill>
                <a:latin typeface="Calibri"/>
                <a:ea typeface="Calibri"/>
                <a:cs typeface="Calibri"/>
                <a:sym typeface="Calibri"/>
              </a:rPr>
              <a:t>Prometheus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5"/>
          <p:cNvSpPr/>
          <p:nvPr/>
        </p:nvSpPr>
        <p:spPr>
          <a:xfrm>
            <a:off x="2903220" y="2971800"/>
            <a:ext cx="1554480" cy="347472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F57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5"/>
          <p:cNvSpPr/>
          <p:nvPr/>
        </p:nvSpPr>
        <p:spPr>
          <a:xfrm>
            <a:off x="2903220" y="2971800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7C00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F57C00"/>
                </a:solidFill>
                <a:latin typeface="Calibri"/>
                <a:ea typeface="Calibri"/>
                <a:cs typeface="Calibri"/>
                <a:sym typeface="Calibri"/>
              </a:rPr>
              <a:t>Grafana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4686300" y="2971800"/>
            <a:ext cx="1554480" cy="347472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F57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5"/>
          <p:cNvSpPr/>
          <p:nvPr/>
        </p:nvSpPr>
        <p:spPr>
          <a:xfrm>
            <a:off x="4686300" y="2971800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7C00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F57C00"/>
                </a:solidFill>
                <a:latin typeface="Calibri"/>
                <a:ea typeface="Calibri"/>
                <a:cs typeface="Calibri"/>
                <a:sym typeface="Calibri"/>
              </a:rPr>
              <a:t>Docker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5"/>
          <p:cNvSpPr/>
          <p:nvPr/>
        </p:nvSpPr>
        <p:spPr>
          <a:xfrm>
            <a:off x="6469380" y="2971800"/>
            <a:ext cx="1554480" cy="347472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F57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/>
          <p:nvPr/>
        </p:nvSpPr>
        <p:spPr>
          <a:xfrm>
            <a:off x="6469380" y="2971800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7C00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F57C00"/>
                </a:solidFill>
                <a:latin typeface="Calibri"/>
                <a:ea typeface="Calibri"/>
                <a:cs typeface="Calibri"/>
                <a:sym typeface="Calibri"/>
              </a:rPr>
              <a:t>Node Exporter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5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000"/>
              <a:buFont typeface="Calibri"/>
              <a:buNone/>
            </a:pPr>
            <a:r>
              <a:rPr b="0" i="0" lang="pt-BR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Universidade Católica Dom Bosco (UCDB)  · 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pt-BR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6"/>
          <p:cNvSpPr/>
          <p:nvPr/>
        </p:nvSpPr>
        <p:spPr>
          <a:xfrm>
            <a:off x="320040" y="822960"/>
            <a:ext cx="4114800" cy="1645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9E3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6"/>
          <p:cNvSpPr/>
          <p:nvPr/>
        </p:nvSpPr>
        <p:spPr>
          <a:xfrm>
            <a:off x="320040" y="822960"/>
            <a:ext cx="64008" cy="164592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6"/>
          <p:cNvSpPr/>
          <p:nvPr/>
        </p:nvSpPr>
        <p:spPr>
          <a:xfrm>
            <a:off x="484632" y="960120"/>
            <a:ext cx="548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5100"/>
              </a:buClr>
              <a:buSzPts val="2800"/>
              <a:buFont typeface="Calibri"/>
              <a:buNone/>
            </a:pPr>
            <a:r>
              <a:rPr b="1" i="0" lang="pt-BR" sz="2800" u="none" cap="none" strike="noStrike">
                <a:solidFill>
                  <a:srgbClr val="E65100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484632" y="1481328"/>
            <a:ext cx="38587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200"/>
              <a:buFont typeface="Calibri"/>
              <a:buNone/>
            </a:pPr>
            <a:r>
              <a:rPr b="1" i="0" lang="pt-BR" sz="120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Introdução &amp; Contextualização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484632" y="1874520"/>
            <a:ext cx="385876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000"/>
              <a:buFont typeface="Calibri"/>
              <a:buNone/>
            </a:pPr>
            <a:r>
              <a:rPr b="0" i="0" lang="pt-BR" sz="10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O problema de visibilidade em infraestrutura de TI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4754880" y="822960"/>
            <a:ext cx="4114800" cy="1645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9E3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6"/>
          <p:cNvSpPr/>
          <p:nvPr/>
        </p:nvSpPr>
        <p:spPr>
          <a:xfrm>
            <a:off x="4754880" y="822960"/>
            <a:ext cx="64008" cy="1645920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6"/>
          <p:cNvSpPr/>
          <p:nvPr/>
        </p:nvSpPr>
        <p:spPr>
          <a:xfrm>
            <a:off x="4919472" y="960120"/>
            <a:ext cx="548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38F"/>
              </a:buClr>
              <a:buSzPts val="2800"/>
              <a:buFont typeface="Calibri"/>
              <a:buNone/>
            </a:pPr>
            <a:r>
              <a:rPr b="1" i="0" lang="pt-BR" sz="2800" u="none" cap="none" strike="noStrike">
                <a:solidFill>
                  <a:srgbClr val="00838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4919472" y="1481328"/>
            <a:ext cx="38587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200"/>
              <a:buFont typeface="Calibri"/>
              <a:buNone/>
            </a:pPr>
            <a:r>
              <a:rPr b="1" i="0" lang="pt-BR" sz="120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Fundamentação Teórica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4919472" y="1874520"/>
            <a:ext cx="385876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000"/>
              <a:buFont typeface="Calibri"/>
              <a:buNone/>
            </a:pPr>
            <a:r>
              <a:rPr b="0" i="0" lang="pt-BR" sz="10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Observabilidade, Prometheus, Grafana e Node Exporter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320040" y="2834640"/>
            <a:ext cx="4114800" cy="1645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9E3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"/>
          <p:cNvSpPr/>
          <p:nvPr/>
        </p:nvSpPr>
        <p:spPr>
          <a:xfrm>
            <a:off x="320040" y="2834640"/>
            <a:ext cx="64008" cy="16459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6"/>
          <p:cNvSpPr/>
          <p:nvPr/>
        </p:nvSpPr>
        <p:spPr>
          <a:xfrm>
            <a:off x="484632" y="2971800"/>
            <a:ext cx="548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2800"/>
              <a:buFont typeface="Calibri"/>
              <a:buNone/>
            </a:pPr>
            <a:r>
              <a:rPr b="1" i="0" lang="pt-BR" sz="28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484632" y="3493008"/>
            <a:ext cx="38587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200"/>
              <a:buFont typeface="Calibri"/>
              <a:buNone/>
            </a:pPr>
            <a:r>
              <a:rPr b="1" i="0" lang="pt-BR" sz="120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Metodologia &amp; Arquitetura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484632" y="3886200"/>
            <a:ext cx="385876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000"/>
              <a:buFont typeface="Calibri"/>
              <a:buNone/>
            </a:pPr>
            <a:r>
              <a:rPr b="0" i="0" lang="pt-BR" sz="10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Stack Docker, configurações e queries PromQL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4754880" y="2834640"/>
            <a:ext cx="4114800" cy="1645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9E3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6"/>
          <p:cNvSpPr/>
          <p:nvPr/>
        </p:nvSpPr>
        <p:spPr>
          <a:xfrm>
            <a:off x="4754880" y="2834640"/>
            <a:ext cx="64008" cy="1645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6"/>
          <p:cNvSpPr/>
          <p:nvPr/>
        </p:nvSpPr>
        <p:spPr>
          <a:xfrm>
            <a:off x="4919472" y="2971800"/>
            <a:ext cx="548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2800"/>
              <a:buFont typeface="Calibri"/>
              <a:buNone/>
            </a:pPr>
            <a:r>
              <a:rPr b="1" i="0" lang="pt-BR" sz="28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4919472" y="3493008"/>
            <a:ext cx="38587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200"/>
              <a:buFont typeface="Calibri"/>
              <a:buNone/>
            </a:pPr>
            <a:r>
              <a:rPr b="1" i="0" lang="pt-BR" sz="120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Resultados &amp; Conclusão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4919472" y="3886200"/>
            <a:ext cx="385876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000"/>
              <a:buFont typeface="Calibri"/>
              <a:buNone/>
            </a:pPr>
            <a:r>
              <a:rPr b="0" i="0" lang="pt-BR" sz="10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Dashboard com alertas visuais e aprendizados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8641080" y="485089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alibri"/>
              <a:buNone/>
            </a:pPr>
            <a:r>
              <a:rPr b="0" i="0" lang="pt-BR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7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pt-BR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Introdução — O Problema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7"/>
          <p:cNvSpPr/>
          <p:nvPr/>
        </p:nvSpPr>
        <p:spPr>
          <a:xfrm>
            <a:off x="457200" y="77724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2000"/>
              <a:buFont typeface="Calibri"/>
              <a:buNone/>
            </a:pPr>
            <a:r>
              <a:rPr b="1" i="0" lang="pt-BR" sz="200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Como saber se o servidor está com problemas antes que o usuário reclame?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7"/>
          <p:cNvSpPr/>
          <p:nvPr/>
        </p:nvSpPr>
        <p:spPr>
          <a:xfrm>
            <a:off x="365760" y="1508760"/>
            <a:ext cx="2560320" cy="182880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CFD8DC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7"/>
          <p:cNvSpPr/>
          <p:nvPr/>
        </p:nvSpPr>
        <p:spPr>
          <a:xfrm>
            <a:off x="1257300" y="1627632"/>
            <a:ext cx="777240" cy="34747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7"/>
          <p:cNvSpPr/>
          <p:nvPr/>
        </p:nvSpPr>
        <p:spPr>
          <a:xfrm>
            <a:off x="1257300" y="1627632"/>
            <a:ext cx="777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pt-BR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CPU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7"/>
          <p:cNvSpPr/>
          <p:nvPr/>
        </p:nvSpPr>
        <p:spPr>
          <a:xfrm>
            <a:off x="457200" y="210312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300"/>
              <a:buFont typeface="Calibri"/>
              <a:buNone/>
            </a:pPr>
            <a:r>
              <a:rPr b="1" i="0" lang="pt-BR" sz="130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CPU saturada?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502920" y="2505456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000"/>
              <a:buFont typeface="Calibri"/>
              <a:buNone/>
            </a:pPr>
            <a:r>
              <a:rPr b="0" i="0" lang="pt-BR" sz="10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Processos consumindo 100% dos cores sem alertas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7"/>
          <p:cNvSpPr/>
          <p:nvPr/>
        </p:nvSpPr>
        <p:spPr>
          <a:xfrm>
            <a:off x="3200400" y="1508760"/>
            <a:ext cx="2560320" cy="182880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CFD8DC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7"/>
          <p:cNvSpPr/>
          <p:nvPr/>
        </p:nvSpPr>
        <p:spPr>
          <a:xfrm>
            <a:off x="4091940" y="1627632"/>
            <a:ext cx="777240" cy="347472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7"/>
          <p:cNvSpPr/>
          <p:nvPr/>
        </p:nvSpPr>
        <p:spPr>
          <a:xfrm>
            <a:off x="4091940" y="1627632"/>
            <a:ext cx="777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pt-BR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7"/>
          <p:cNvSpPr/>
          <p:nvPr/>
        </p:nvSpPr>
        <p:spPr>
          <a:xfrm>
            <a:off x="3291840" y="210312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300"/>
              <a:buFont typeface="Calibri"/>
              <a:buNone/>
            </a:pPr>
            <a:r>
              <a:rPr b="1" i="0" lang="pt-BR" sz="130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RAM esgotada?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7"/>
          <p:cNvSpPr/>
          <p:nvPr/>
        </p:nvSpPr>
        <p:spPr>
          <a:xfrm>
            <a:off x="3337560" y="2505456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000"/>
              <a:buFont typeface="Calibri"/>
              <a:buNone/>
            </a:pPr>
            <a:r>
              <a:rPr b="0" i="0" lang="pt-BR" sz="10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Swap ativo, aplicação lenta sem visibilidade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7"/>
          <p:cNvSpPr/>
          <p:nvPr/>
        </p:nvSpPr>
        <p:spPr>
          <a:xfrm>
            <a:off x="6035040" y="1508760"/>
            <a:ext cx="2560320" cy="182880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CFD8DC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7"/>
          <p:cNvSpPr/>
          <p:nvPr/>
        </p:nvSpPr>
        <p:spPr>
          <a:xfrm>
            <a:off x="6926580" y="1627632"/>
            <a:ext cx="777240" cy="34747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7"/>
          <p:cNvSpPr/>
          <p:nvPr/>
        </p:nvSpPr>
        <p:spPr>
          <a:xfrm>
            <a:off x="6926580" y="1627632"/>
            <a:ext cx="777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pt-BR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7"/>
          <p:cNvSpPr/>
          <p:nvPr/>
        </p:nvSpPr>
        <p:spPr>
          <a:xfrm>
            <a:off x="6126480" y="210312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300"/>
              <a:buFont typeface="Calibri"/>
              <a:buNone/>
            </a:pPr>
            <a:r>
              <a:rPr b="1" i="0" lang="pt-BR" sz="130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Rede sobrecarregada?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7"/>
          <p:cNvSpPr/>
          <p:nvPr/>
        </p:nvSpPr>
        <p:spPr>
          <a:xfrm>
            <a:off x="6172200" y="2505456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000"/>
              <a:buFont typeface="Calibri"/>
              <a:buNone/>
            </a:pPr>
            <a:r>
              <a:rPr b="0" i="0" lang="pt-BR" sz="10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Pico de tráfego não identificado em tempo real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457200" y="3520440"/>
            <a:ext cx="8229600" cy="594360"/>
          </a:xfrm>
          <a:prstGeom prst="rect">
            <a:avLst/>
          </a:prstGeom>
          <a:solidFill>
            <a:srgbClr val="FFF3E0"/>
          </a:solidFill>
          <a:ln cap="flat" cmpd="sng" w="12700">
            <a:solidFill>
              <a:srgbClr val="F57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7"/>
          <p:cNvSpPr/>
          <p:nvPr/>
        </p:nvSpPr>
        <p:spPr>
          <a:xfrm>
            <a:off x="640080" y="3520440"/>
            <a:ext cx="7863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360C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BF360C"/>
                </a:solidFill>
                <a:latin typeface="Calibri"/>
                <a:ea typeface="Calibri"/>
                <a:cs typeface="Calibri"/>
                <a:sym typeface="Calibri"/>
              </a:rPr>
              <a:t>Resultado esperado: Dashboard com alertas visuais (gauges + gráficos de linha) disparando quando CPU &gt; 80%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7"/>
          <p:cNvSpPr/>
          <p:nvPr/>
        </p:nvSpPr>
        <p:spPr>
          <a:xfrm>
            <a:off x="8641080" y="485089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alibri"/>
              <a:buNone/>
            </a:pPr>
            <a:r>
              <a:rPr b="0" i="0" lang="pt-BR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8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pt-BR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Fundamentação Teórica — Observabilidade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8"/>
          <p:cNvSpPr/>
          <p:nvPr/>
        </p:nvSpPr>
        <p:spPr>
          <a:xfrm>
            <a:off x="457200" y="74980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300"/>
              <a:buFont typeface="Calibri"/>
              <a:buNone/>
            </a:pPr>
            <a:r>
              <a:rPr b="0" i="1" lang="pt-BR" sz="13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Observabilidade é a capacidade de compreender o estado interno de um sistema a partir de suas saídas externas.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8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alibri"/>
              <a:buNone/>
            </a:pPr>
            <a:r>
              <a:rPr b="0" i="0" lang="pt-BR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(Goldshlager &amp; Lister, 1987; adaptado para SRE/DevOps)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8"/>
          <p:cNvSpPr/>
          <p:nvPr/>
        </p:nvSpPr>
        <p:spPr>
          <a:xfrm>
            <a:off x="411480" y="1600200"/>
            <a:ext cx="2514600" cy="2377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FD8DC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8"/>
          <p:cNvSpPr/>
          <p:nvPr/>
        </p:nvSpPr>
        <p:spPr>
          <a:xfrm>
            <a:off x="411480" y="1600200"/>
            <a:ext cx="2514600" cy="5486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8"/>
          <p:cNvSpPr/>
          <p:nvPr/>
        </p:nvSpPr>
        <p:spPr>
          <a:xfrm>
            <a:off x="502920" y="1600200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pt-BR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Métricas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8"/>
          <p:cNvSpPr/>
          <p:nvPr/>
        </p:nvSpPr>
        <p:spPr>
          <a:xfrm>
            <a:off x="548640" y="2212848"/>
            <a:ext cx="224028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050"/>
              <a:buFont typeface="Calibri"/>
              <a:buNone/>
            </a:pPr>
            <a:r>
              <a:rPr b="0" i="0" lang="pt-BR" sz="105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Dados </a:t>
            </a:r>
            <a:r>
              <a:rPr lang="pt-BR" sz="1050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numéricos</a:t>
            </a:r>
            <a:r>
              <a:rPr b="0" i="0" lang="pt-BR" sz="105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 coletados em intervalos de tempo. Ex.: uso de CPU %, bytes de rede. Armazenados em TSDB (Time Series Database).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8"/>
          <p:cNvSpPr/>
          <p:nvPr/>
        </p:nvSpPr>
        <p:spPr>
          <a:xfrm>
            <a:off x="3200400" y="1600200"/>
            <a:ext cx="2514600" cy="2377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FD8DC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8"/>
          <p:cNvSpPr/>
          <p:nvPr/>
        </p:nvSpPr>
        <p:spPr>
          <a:xfrm>
            <a:off x="3200400" y="1600200"/>
            <a:ext cx="2514600" cy="548640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8"/>
          <p:cNvSpPr/>
          <p:nvPr/>
        </p:nvSpPr>
        <p:spPr>
          <a:xfrm>
            <a:off x="3291840" y="1600200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pt-BR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Logs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8"/>
          <p:cNvSpPr/>
          <p:nvPr/>
        </p:nvSpPr>
        <p:spPr>
          <a:xfrm>
            <a:off x="3337560" y="2212848"/>
            <a:ext cx="224028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050"/>
              <a:buFont typeface="Calibri"/>
              <a:buNone/>
            </a:pPr>
            <a:r>
              <a:rPr b="0" i="0" lang="pt-BR" sz="105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Registros de eventos textuais com timestamp. Permitem auditoria e rastreamento de falhas </a:t>
            </a:r>
            <a:r>
              <a:rPr lang="pt-BR" sz="1050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específicas</a:t>
            </a:r>
            <a:r>
              <a:rPr b="0" i="0" lang="pt-BR" sz="105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 em componentes.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8"/>
          <p:cNvSpPr/>
          <p:nvPr/>
        </p:nvSpPr>
        <p:spPr>
          <a:xfrm>
            <a:off x="5989320" y="1600200"/>
            <a:ext cx="2514600" cy="2377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FD8DC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8"/>
          <p:cNvSpPr/>
          <p:nvPr/>
        </p:nvSpPr>
        <p:spPr>
          <a:xfrm>
            <a:off x="5989320" y="1600200"/>
            <a:ext cx="2514600" cy="54864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8"/>
          <p:cNvSpPr/>
          <p:nvPr/>
        </p:nvSpPr>
        <p:spPr>
          <a:xfrm>
            <a:off x="6080760" y="1600200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pt-BR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Traces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8"/>
          <p:cNvSpPr/>
          <p:nvPr/>
        </p:nvSpPr>
        <p:spPr>
          <a:xfrm>
            <a:off x="6126480" y="2212848"/>
            <a:ext cx="224028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050"/>
              <a:buFont typeface="Calibri"/>
              <a:buNone/>
            </a:pPr>
            <a:r>
              <a:rPr b="0" i="0" lang="pt-BR" sz="105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Rastreamento de </a:t>
            </a:r>
            <a:r>
              <a:rPr lang="pt-BR" sz="1050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requisições</a:t>
            </a:r>
            <a:r>
              <a:rPr b="0" i="0" lang="pt-BR" sz="105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 entre </a:t>
            </a:r>
            <a:r>
              <a:rPr lang="pt-BR" sz="1050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microsserviços</a:t>
            </a:r>
            <a:r>
              <a:rPr b="0" i="0" lang="pt-BR" sz="105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. Identificam gargalos e </a:t>
            </a:r>
            <a:r>
              <a:rPr lang="pt-BR" sz="1050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latência</a:t>
            </a:r>
            <a:r>
              <a:rPr b="0" i="0" lang="pt-BR" sz="105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 em sistemas </a:t>
            </a:r>
            <a:r>
              <a:rPr lang="pt-BR" sz="1050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distribuídos</a:t>
            </a:r>
            <a:r>
              <a:rPr b="0" i="0" lang="pt-BR" sz="105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8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Este projeto foca em MÉTRICAS — via Node Exporter, Prometheus e Grafana.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8"/>
          <p:cNvSpPr/>
          <p:nvPr/>
        </p:nvSpPr>
        <p:spPr>
          <a:xfrm>
            <a:off x="8641080" y="485089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alibri"/>
              <a:buNone/>
            </a:pPr>
            <a:r>
              <a:rPr b="0" i="0" lang="pt-BR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9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9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pt-BR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Fundamentação Teórica — Prometheus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9"/>
          <p:cNvSpPr/>
          <p:nvPr/>
        </p:nvSpPr>
        <p:spPr>
          <a:xfrm>
            <a:off x="457200" y="77724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600"/>
              <a:buFont typeface="Calibri"/>
              <a:buNone/>
            </a:pPr>
            <a:r>
              <a:rPr b="1" i="0" lang="pt-BR" sz="160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O que é o Prometheus?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9"/>
          <p:cNvSpPr/>
          <p:nvPr/>
        </p:nvSpPr>
        <p:spPr>
          <a:xfrm>
            <a:off x="457200" y="1234440"/>
            <a:ext cx="420624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100"/>
              <a:buFont typeface="Calibri"/>
              <a:buChar char="•"/>
            </a:pPr>
            <a:r>
              <a:rPr b="0" i="0" lang="pt-BR" sz="110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Banco de dados de séries temporais (TSDB) open-source, criado pelo SoundCloud em 2012.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C2B3A"/>
              </a:buClr>
              <a:buSzPts val="1100"/>
              <a:buFont typeface="Calibri"/>
              <a:buChar char="•"/>
            </a:pPr>
            <a:r>
              <a:rPr b="0" i="0" lang="pt-BR" sz="110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Modelo Pull (scraping): o Prometheus busca ativamente as métricas nos targets a cada scrape_interval.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C2B3A"/>
              </a:buClr>
              <a:buSzPts val="1100"/>
              <a:buFont typeface="Calibri"/>
              <a:buChar char="•"/>
            </a:pPr>
            <a:r>
              <a:rPr b="0" i="0" lang="pt-BR" sz="110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Armazena dados com compressão eficiente e retenção configurável.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C2B3A"/>
              </a:buClr>
              <a:buSzPts val="1100"/>
              <a:buFont typeface="Calibri"/>
              <a:buChar char="•"/>
            </a:pPr>
            <a:r>
              <a:rPr b="0" i="0" lang="pt-BR" sz="110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Linguagem de consulta própria: PromQL (Prometheus Query Language).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C2B3A"/>
              </a:buClr>
              <a:buSzPts val="1100"/>
              <a:buFont typeface="Calibri"/>
              <a:buChar char="•"/>
            </a:pPr>
            <a:r>
              <a:rPr b="0" i="0" lang="pt-BR" sz="110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Referência: Prometheus Documentation — prometheus.io/docs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9"/>
          <p:cNvSpPr/>
          <p:nvPr/>
        </p:nvSpPr>
        <p:spPr>
          <a:xfrm>
            <a:off x="5029200" y="777240"/>
            <a:ext cx="3749040" cy="365760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CFD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9"/>
          <p:cNvSpPr/>
          <p:nvPr/>
        </p:nvSpPr>
        <p:spPr>
          <a:xfrm>
            <a:off x="5074920" y="8229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Modelo Pull do Prometheus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9"/>
          <p:cNvSpPr/>
          <p:nvPr/>
        </p:nvSpPr>
        <p:spPr>
          <a:xfrm>
            <a:off x="5257800" y="1234440"/>
            <a:ext cx="1371600" cy="502920"/>
          </a:xfrm>
          <a:prstGeom prst="rect">
            <a:avLst/>
          </a:prstGeom>
          <a:solidFill>
            <a:srgbClr val="E8F5E9"/>
          </a:solidFill>
          <a:ln cap="flat" cmpd="sng" w="1270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9"/>
          <p:cNvSpPr/>
          <p:nvPr/>
        </p:nvSpPr>
        <p:spPr>
          <a:xfrm>
            <a:off x="5257800" y="1234440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850"/>
              <a:buFont typeface="Calibri"/>
              <a:buNone/>
            </a:pPr>
            <a:r>
              <a:rPr b="0" i="0" lang="pt-BR" sz="850" u="none" cap="none" strike="noStrike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Node Exporter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850"/>
              <a:buFont typeface="Calibri"/>
              <a:buNone/>
            </a:pPr>
            <a:r>
              <a:rPr b="0" i="0" lang="pt-BR" sz="850" u="none" cap="none" strike="noStrike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:9100/metrics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9"/>
          <p:cNvSpPr/>
          <p:nvPr/>
        </p:nvSpPr>
        <p:spPr>
          <a:xfrm>
            <a:off x="5257800" y="1874520"/>
            <a:ext cx="1371600" cy="502920"/>
          </a:xfrm>
          <a:prstGeom prst="rect">
            <a:avLst/>
          </a:prstGeom>
          <a:solidFill>
            <a:srgbClr val="E8F5E9"/>
          </a:solidFill>
          <a:ln cap="flat" cmpd="sng" w="1270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9"/>
          <p:cNvSpPr/>
          <p:nvPr/>
        </p:nvSpPr>
        <p:spPr>
          <a:xfrm>
            <a:off x="5257800" y="1874520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850"/>
              <a:buFont typeface="Calibri"/>
              <a:buNone/>
            </a:pPr>
            <a:r>
              <a:rPr b="0" i="0" lang="pt-BR" sz="850" u="none" cap="none" strike="noStrike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Prometheus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850"/>
              <a:buFont typeface="Calibri"/>
              <a:buNone/>
            </a:pPr>
            <a:r>
              <a:rPr b="0" i="0" lang="pt-BR" sz="850" u="none" cap="none" strike="noStrike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:9090/metrics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9"/>
          <p:cNvSpPr/>
          <p:nvPr/>
        </p:nvSpPr>
        <p:spPr>
          <a:xfrm>
            <a:off x="7132320" y="1371600"/>
            <a:ext cx="1463040" cy="1234440"/>
          </a:xfrm>
          <a:prstGeom prst="rect">
            <a:avLst/>
          </a:prstGeom>
          <a:solidFill>
            <a:srgbClr val="E3F2FD"/>
          </a:solidFill>
          <a:ln cap="flat" cmpd="sng" w="1905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9"/>
          <p:cNvSpPr/>
          <p:nvPr/>
        </p:nvSpPr>
        <p:spPr>
          <a:xfrm>
            <a:off x="7132320" y="1371600"/>
            <a:ext cx="14630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000"/>
              <a:buFont typeface="Calibri"/>
              <a:buNone/>
            </a:pPr>
            <a:r>
              <a:rPr b="1" i="0" lang="pt-BR" sz="10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Prometheus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000"/>
              <a:buFont typeface="Calibri"/>
              <a:buNone/>
            </a:pPr>
            <a:r>
              <a:rPr b="1" i="0" lang="pt-BR" sz="10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TSDB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000"/>
              <a:buFont typeface="Calibri"/>
              <a:buNone/>
            </a:pPr>
            <a:r>
              <a:rPr b="1" i="0" lang="pt-BR" sz="10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:9090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3" name="Google Shape;163;p19"/>
          <p:cNvCxnSpPr/>
          <p:nvPr/>
        </p:nvCxnSpPr>
        <p:spPr>
          <a:xfrm>
            <a:off x="6629400" y="1481328"/>
            <a:ext cx="502920" cy="0"/>
          </a:xfrm>
          <a:prstGeom prst="straightConnector1">
            <a:avLst/>
          </a:prstGeom>
          <a:noFill/>
          <a:ln cap="flat" cmpd="sng" w="19050">
            <a:solidFill>
              <a:srgbClr val="E651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4" name="Google Shape;164;p19"/>
          <p:cNvCxnSpPr/>
          <p:nvPr/>
        </p:nvCxnSpPr>
        <p:spPr>
          <a:xfrm>
            <a:off x="6629400" y="2121408"/>
            <a:ext cx="502920" cy="0"/>
          </a:xfrm>
          <a:prstGeom prst="straightConnector1">
            <a:avLst/>
          </a:prstGeom>
          <a:noFill/>
          <a:ln cap="flat" cmpd="sng" w="19050">
            <a:solidFill>
              <a:srgbClr val="E651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5" name="Google Shape;165;p19"/>
          <p:cNvSpPr/>
          <p:nvPr/>
        </p:nvSpPr>
        <p:spPr>
          <a:xfrm>
            <a:off x="6652270" y="1410100"/>
            <a:ext cx="457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5100"/>
              </a:buClr>
              <a:buSzPts val="700"/>
              <a:buFont typeface="Calibri"/>
              <a:buNone/>
            </a:pPr>
            <a:r>
              <a:rPr b="0" i="0" lang="pt-BR" sz="700" u="none" cap="none" strike="noStrike">
                <a:solidFill>
                  <a:srgbClr val="E65100"/>
                </a:solidFill>
                <a:latin typeface="Calibri"/>
                <a:ea typeface="Calibri"/>
                <a:cs typeface="Calibri"/>
                <a:sym typeface="Calibri"/>
              </a:rPr>
              <a:t>scrape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5100"/>
              </a:buClr>
              <a:buSzPts val="700"/>
              <a:buFont typeface="Calibri"/>
              <a:buNone/>
            </a:pPr>
            <a:r>
              <a:rPr b="0" i="0" lang="pt-BR" sz="700" u="none" cap="none" strike="noStrike">
                <a:solidFill>
                  <a:srgbClr val="E65100"/>
                </a:solidFill>
                <a:latin typeface="Calibri"/>
                <a:ea typeface="Calibri"/>
                <a:cs typeface="Calibri"/>
                <a:sym typeface="Calibri"/>
              </a:rPr>
              <a:t>(PULL)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9"/>
          <p:cNvSpPr/>
          <p:nvPr/>
        </p:nvSpPr>
        <p:spPr>
          <a:xfrm>
            <a:off x="5257800" y="2834640"/>
            <a:ext cx="3337560" cy="502920"/>
          </a:xfrm>
          <a:prstGeom prst="rect">
            <a:avLst/>
          </a:prstGeom>
          <a:solidFill>
            <a:srgbClr val="FFF3E0"/>
          </a:solidFill>
          <a:ln cap="flat" cmpd="sng" w="12700">
            <a:solidFill>
              <a:srgbClr val="F57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9"/>
          <p:cNvSpPr/>
          <p:nvPr/>
        </p:nvSpPr>
        <p:spPr>
          <a:xfrm>
            <a:off x="5257800" y="2834640"/>
            <a:ext cx="3337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F360C"/>
              </a:buClr>
              <a:buSzPts val="900"/>
              <a:buFont typeface="Consolas"/>
              <a:buNone/>
            </a:pPr>
            <a:r>
              <a:rPr b="0" i="0" lang="pt-BR" sz="900" u="none" cap="none" strike="noStrike">
                <a:solidFill>
                  <a:srgbClr val="BF360C"/>
                </a:solidFill>
                <a:latin typeface="Consolas"/>
                <a:ea typeface="Consolas"/>
                <a:cs typeface="Consolas"/>
                <a:sym typeface="Consolas"/>
              </a:rPr>
              <a:t>scrape_interval: 15s  |  evaluation_interval: 15s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9"/>
          <p:cNvSpPr/>
          <p:nvPr/>
        </p:nvSpPr>
        <p:spPr>
          <a:xfrm>
            <a:off x="5257800" y="3474720"/>
            <a:ext cx="3337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900"/>
              <a:buFont typeface="Calibri"/>
              <a:buNone/>
            </a:pPr>
            <a:r>
              <a:rPr b="1" i="0" lang="pt-BR" sz="90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Consultas com PromQL: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/>
          <p:nvPr/>
        </p:nvSpPr>
        <p:spPr>
          <a:xfrm>
            <a:off x="5257800" y="3730750"/>
            <a:ext cx="3337500" cy="742800"/>
          </a:xfrm>
          <a:prstGeom prst="rect">
            <a:avLst/>
          </a:prstGeom>
          <a:solidFill>
            <a:srgbClr val="0D2137"/>
          </a:solidFill>
          <a:ln cap="flat" cmpd="sng" w="12700">
            <a:solidFill>
              <a:srgbClr val="1E4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9"/>
          <p:cNvSpPr/>
          <p:nvPr/>
        </p:nvSpPr>
        <p:spPr>
          <a:xfrm>
            <a:off x="5367528" y="3822192"/>
            <a:ext cx="31181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F0"/>
              </a:buClr>
              <a:buSzPts val="950"/>
              <a:buFont typeface="Consolas"/>
              <a:buNone/>
            </a:pPr>
            <a:r>
              <a:rPr b="0" i="0" lang="pt-BR" sz="950" u="none" cap="none" strike="noStrike">
                <a:solidFill>
                  <a:srgbClr val="A8D8F0"/>
                </a:solidFill>
                <a:latin typeface="Consolas"/>
                <a:ea typeface="Consolas"/>
                <a:cs typeface="Consolas"/>
                <a:sym typeface="Consolas"/>
              </a:rPr>
              <a:t>(1 - avg(irate(node_cpu_seconds_total{mode="idle"}[5m]))) * 100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9"/>
          <p:cNvSpPr/>
          <p:nvPr/>
        </p:nvSpPr>
        <p:spPr>
          <a:xfrm>
            <a:off x="8641080" y="485089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alibri"/>
              <a:buNone/>
            </a:pPr>
            <a:r>
              <a:rPr b="0" i="0" lang="pt-BR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0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pt-BR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Fundamentação Teórica — Grafana &amp; NOC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457200" y="77724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600"/>
              <a:buFont typeface="Calibri"/>
              <a:buNone/>
            </a:pPr>
            <a:r>
              <a:rPr b="1" i="0" lang="pt-BR" sz="160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Grafana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457200" y="1234440"/>
            <a:ext cx="41148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100"/>
              <a:buFont typeface="Calibri"/>
              <a:buChar char="•"/>
            </a:pPr>
            <a:r>
              <a:rPr b="0" i="0" lang="pt-BR" sz="110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Plataforma open-source de visualização e analytics, criada em 2014.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C2B3A"/>
              </a:buClr>
              <a:buSzPts val="1100"/>
              <a:buFont typeface="Calibri"/>
              <a:buChar char="•"/>
            </a:pPr>
            <a:r>
              <a:rPr b="0" i="0" lang="pt-BR" sz="110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Conecta-se a múltiplas fontes de dados (Prometheus, InfluxDB, Elasticsearch).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C2B3A"/>
              </a:buClr>
              <a:buSzPts val="1100"/>
              <a:buFont typeface="Calibri"/>
              <a:buChar char="•"/>
            </a:pPr>
            <a:r>
              <a:rPr b="0" i="0" lang="pt-BR" sz="110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Painéis interativos com atualização automática (live dashboards).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C2B3A"/>
              </a:buClr>
              <a:buSzPts val="1100"/>
              <a:buFont typeface="Calibri"/>
              <a:buChar char="•"/>
            </a:pPr>
            <a:r>
              <a:rPr b="0" i="0" lang="pt-BR" sz="110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Suporte nativo a Gauges, Gráficos de Linha, Tabelas, Alertas.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C2B3A"/>
              </a:buClr>
              <a:buSzPts val="1100"/>
              <a:buFont typeface="Calibri"/>
              <a:buChar char="•"/>
            </a:pPr>
            <a:r>
              <a:rPr b="0" i="0" lang="pt-BR" sz="110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Ref.: Grafana Labs Documentation — grafana.com/docs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4937760" y="777240"/>
            <a:ext cx="3840480" cy="3657600"/>
          </a:xfrm>
          <a:prstGeom prst="rect">
            <a:avLst/>
          </a:prstGeom>
          <a:solidFill>
            <a:srgbClr val="0D1B2A"/>
          </a:solidFill>
          <a:ln cap="flat" cmpd="sng" w="9525">
            <a:solidFill>
              <a:srgbClr val="1E4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0"/>
          <p:cNvSpPr/>
          <p:nvPr/>
        </p:nvSpPr>
        <p:spPr>
          <a:xfrm>
            <a:off x="5029200" y="841248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7C00"/>
              </a:buClr>
              <a:buSzPts val="1200"/>
              <a:buFont typeface="Calibri"/>
              <a:buNone/>
            </a:pPr>
            <a:r>
              <a:rPr b="1" i="0" lang="pt-BR" sz="1200" u="none" cap="none" strike="noStrike">
                <a:solidFill>
                  <a:srgbClr val="F57C00"/>
                </a:solidFill>
                <a:latin typeface="Calibri"/>
                <a:ea typeface="Calibri"/>
                <a:cs typeface="Calibri"/>
                <a:sym typeface="Calibri"/>
              </a:rPr>
              <a:t>Network Operations Center (NOC)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5074920" y="1280160"/>
            <a:ext cx="3566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pt-BR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O NOC é o centro de monitoramento e controle de uma organização de TI. Operadores acompanham dashboards em tempo real para detectar e resolver incidentes antes que afetem os usuários.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5074920" y="2194560"/>
            <a:ext cx="1645920" cy="594360"/>
          </a:xfrm>
          <a:prstGeom prst="rect">
            <a:avLst/>
          </a:prstGeom>
          <a:solidFill>
            <a:srgbClr val="F57F17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0"/>
          <p:cNvSpPr/>
          <p:nvPr/>
        </p:nvSpPr>
        <p:spPr>
          <a:xfrm>
            <a:off x="5074920" y="2194560"/>
            <a:ext cx="1645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pt-BR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CPU 72%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6903720" y="2194560"/>
            <a:ext cx="1737360" cy="594360"/>
          </a:xfrm>
          <a:prstGeom prst="rect">
            <a:avLst/>
          </a:prstGeom>
          <a:solidFill>
            <a:srgbClr val="1B5E2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0"/>
          <p:cNvSpPr/>
          <p:nvPr/>
        </p:nvSpPr>
        <p:spPr>
          <a:xfrm>
            <a:off x="6903720" y="2194560"/>
            <a:ext cx="1737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pt-BR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RAM 58%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5074920" y="2926080"/>
            <a:ext cx="1645920" cy="594360"/>
          </a:xfrm>
          <a:prstGeom prst="rect">
            <a:avLst/>
          </a:prstGeom>
          <a:solidFill>
            <a:srgbClr val="1B5E2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0"/>
          <p:cNvSpPr/>
          <p:nvPr/>
        </p:nvSpPr>
        <p:spPr>
          <a:xfrm>
            <a:off x="5074920" y="2926080"/>
            <a:ext cx="1645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pt-BR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DISK 45%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6903720" y="2926080"/>
            <a:ext cx="1737360" cy="594360"/>
          </a:xfrm>
          <a:prstGeom prst="rect">
            <a:avLst/>
          </a:prstGeom>
          <a:solidFill>
            <a:srgbClr val="0D47A1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0"/>
          <p:cNvSpPr/>
          <p:nvPr/>
        </p:nvSpPr>
        <p:spPr>
          <a:xfrm>
            <a:off x="6903720" y="2926080"/>
            <a:ext cx="1737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pt-BR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NET 1.2 MB/s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5029200" y="370332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850"/>
              <a:buFont typeface="Calibri"/>
              <a:buNone/>
            </a:pPr>
            <a:r>
              <a:rPr b="0" i="1" lang="pt-BR" sz="850" u="none" cap="none" strike="noStrike">
                <a:solidFill>
                  <a:srgbClr val="78909C"/>
                </a:solidFill>
                <a:latin typeface="Calibri"/>
                <a:ea typeface="Calibri"/>
                <a:cs typeface="Calibri"/>
                <a:sym typeface="Calibri"/>
              </a:rPr>
              <a:t>« Exemplo de painel NOC »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8641080" y="485089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alibri"/>
              <a:buNone/>
            </a:pPr>
            <a:r>
              <a:rPr b="0" i="0" lang="pt-BR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pt-BR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Fundamentação Teórica — Node Exporter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457200" y="749808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400"/>
              <a:buFont typeface="Calibri"/>
              <a:buNone/>
            </a:pPr>
            <a:r>
              <a:rPr b="0" i="0" lang="pt-BR" sz="14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O agente de coleta de métricas do sistema operacional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320040" y="1188720"/>
            <a:ext cx="2651760" cy="128016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CFD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1"/>
          <p:cNvSpPr/>
          <p:nvPr/>
        </p:nvSpPr>
        <p:spPr>
          <a:xfrm>
            <a:off x="429768" y="1280160"/>
            <a:ext cx="243230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200"/>
              <a:buFont typeface="Calibri"/>
              <a:buNone/>
            </a:pPr>
            <a:r>
              <a:rPr b="1" i="0" lang="pt-BR" sz="120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CPU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429768" y="1645920"/>
            <a:ext cx="2432304" cy="713232"/>
          </a:xfrm>
          <a:prstGeom prst="rect">
            <a:avLst/>
          </a:prstGeom>
          <a:solidFill>
            <a:srgbClr val="0D2137"/>
          </a:solidFill>
          <a:ln cap="flat" cmpd="sng" w="12700">
            <a:solidFill>
              <a:srgbClr val="1E4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1"/>
          <p:cNvSpPr/>
          <p:nvPr/>
        </p:nvSpPr>
        <p:spPr>
          <a:xfrm>
            <a:off x="539496" y="1737360"/>
            <a:ext cx="2212848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F0"/>
              </a:buClr>
              <a:buSzPts val="950"/>
              <a:buFont typeface="Consolas"/>
              <a:buNone/>
            </a:pPr>
            <a:r>
              <a:rPr b="0" i="0" lang="pt-BR" sz="950" u="none" cap="none" strike="noStrike">
                <a:solidFill>
                  <a:srgbClr val="A8D8F0"/>
                </a:solidFill>
                <a:latin typeface="Consolas"/>
                <a:ea typeface="Consolas"/>
                <a:cs typeface="Consolas"/>
                <a:sym typeface="Consolas"/>
              </a:rPr>
              <a:t>node_cpu_seconds_total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F0"/>
              </a:buClr>
              <a:buSzPts val="950"/>
              <a:buFont typeface="Consolas"/>
              <a:buNone/>
            </a:pPr>
            <a:r>
              <a:rPr b="0" i="0" lang="pt-BR" sz="950" u="none" cap="none" strike="noStrike">
                <a:solidFill>
                  <a:srgbClr val="A8D8F0"/>
                </a:solidFill>
                <a:latin typeface="Consolas"/>
                <a:ea typeface="Consolas"/>
                <a:cs typeface="Consolas"/>
                <a:sym typeface="Consolas"/>
              </a:rPr>
              <a:t>node_load1 / 5 / 15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3246120" y="1188720"/>
            <a:ext cx="2651760" cy="128016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CFD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1"/>
          <p:cNvSpPr/>
          <p:nvPr/>
        </p:nvSpPr>
        <p:spPr>
          <a:xfrm>
            <a:off x="3355848" y="1280160"/>
            <a:ext cx="243230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200"/>
              <a:buFont typeface="Calibri"/>
              <a:buNone/>
            </a:pPr>
            <a:r>
              <a:rPr b="1" i="0" lang="pt-BR" sz="120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Memoria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3355848" y="1645920"/>
            <a:ext cx="2432304" cy="713232"/>
          </a:xfrm>
          <a:prstGeom prst="rect">
            <a:avLst/>
          </a:prstGeom>
          <a:solidFill>
            <a:srgbClr val="0D2137"/>
          </a:solidFill>
          <a:ln cap="flat" cmpd="sng" w="12700">
            <a:solidFill>
              <a:srgbClr val="1E4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1"/>
          <p:cNvSpPr/>
          <p:nvPr/>
        </p:nvSpPr>
        <p:spPr>
          <a:xfrm>
            <a:off x="3465576" y="1737360"/>
            <a:ext cx="2212848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F0"/>
              </a:buClr>
              <a:buSzPts val="950"/>
              <a:buFont typeface="Consolas"/>
              <a:buNone/>
            </a:pPr>
            <a:r>
              <a:rPr b="0" i="0" lang="pt-BR" sz="950" u="none" cap="none" strike="noStrike">
                <a:solidFill>
                  <a:srgbClr val="A8D8F0"/>
                </a:solidFill>
                <a:latin typeface="Consolas"/>
                <a:ea typeface="Consolas"/>
                <a:cs typeface="Consolas"/>
                <a:sym typeface="Consolas"/>
              </a:rPr>
              <a:t>node_memory_MemTotal_bytes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F0"/>
              </a:buClr>
              <a:buSzPts val="950"/>
              <a:buFont typeface="Consolas"/>
              <a:buNone/>
            </a:pPr>
            <a:r>
              <a:rPr b="0" i="0" lang="pt-BR" sz="950" u="none" cap="none" strike="noStrike">
                <a:solidFill>
                  <a:srgbClr val="A8D8F0"/>
                </a:solidFill>
                <a:latin typeface="Consolas"/>
                <a:ea typeface="Consolas"/>
                <a:cs typeface="Consolas"/>
                <a:sym typeface="Consolas"/>
              </a:rPr>
              <a:t>node_memory_MemAvailable_bytes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6172200" y="1188720"/>
            <a:ext cx="2651760" cy="128016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CFD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1"/>
          <p:cNvSpPr/>
          <p:nvPr/>
        </p:nvSpPr>
        <p:spPr>
          <a:xfrm>
            <a:off x="6281928" y="1280160"/>
            <a:ext cx="243230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200"/>
              <a:buFont typeface="Calibri"/>
              <a:buNone/>
            </a:pPr>
            <a:r>
              <a:rPr b="1" i="0" lang="pt-BR" sz="120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Disco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6281928" y="1645920"/>
            <a:ext cx="2432304" cy="713232"/>
          </a:xfrm>
          <a:prstGeom prst="rect">
            <a:avLst/>
          </a:prstGeom>
          <a:solidFill>
            <a:srgbClr val="0D2137"/>
          </a:solidFill>
          <a:ln cap="flat" cmpd="sng" w="12700">
            <a:solidFill>
              <a:srgbClr val="1E4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1"/>
          <p:cNvSpPr/>
          <p:nvPr/>
        </p:nvSpPr>
        <p:spPr>
          <a:xfrm>
            <a:off x="6391656" y="1737360"/>
            <a:ext cx="2212848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F0"/>
              </a:buClr>
              <a:buSzPts val="950"/>
              <a:buFont typeface="Consolas"/>
              <a:buNone/>
            </a:pPr>
            <a:r>
              <a:rPr b="0" i="0" lang="pt-BR" sz="950" u="none" cap="none" strike="noStrike">
                <a:solidFill>
                  <a:srgbClr val="A8D8F0"/>
                </a:solidFill>
                <a:latin typeface="Consolas"/>
                <a:ea typeface="Consolas"/>
                <a:cs typeface="Consolas"/>
                <a:sym typeface="Consolas"/>
              </a:rPr>
              <a:t>node_filesystem_size_bytes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F0"/>
              </a:buClr>
              <a:buSzPts val="950"/>
              <a:buFont typeface="Consolas"/>
              <a:buNone/>
            </a:pPr>
            <a:r>
              <a:rPr b="0" i="0" lang="pt-BR" sz="950" u="none" cap="none" strike="noStrike">
                <a:solidFill>
                  <a:srgbClr val="A8D8F0"/>
                </a:solidFill>
                <a:latin typeface="Consolas"/>
                <a:ea typeface="Consolas"/>
                <a:cs typeface="Consolas"/>
                <a:sym typeface="Consolas"/>
              </a:rPr>
              <a:t>node_filesystem_avail_bytes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320040" y="2651760"/>
            <a:ext cx="2651760" cy="128016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CFD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1"/>
          <p:cNvSpPr/>
          <p:nvPr/>
        </p:nvSpPr>
        <p:spPr>
          <a:xfrm>
            <a:off x="429768" y="2743200"/>
            <a:ext cx="243230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200"/>
              <a:buFont typeface="Calibri"/>
              <a:buNone/>
            </a:pPr>
            <a:r>
              <a:rPr b="1" i="0" lang="pt-BR" sz="120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Rede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429768" y="3108960"/>
            <a:ext cx="2432304" cy="713232"/>
          </a:xfrm>
          <a:prstGeom prst="rect">
            <a:avLst/>
          </a:prstGeom>
          <a:solidFill>
            <a:srgbClr val="0D2137"/>
          </a:solidFill>
          <a:ln cap="flat" cmpd="sng" w="12700">
            <a:solidFill>
              <a:srgbClr val="1E4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1"/>
          <p:cNvSpPr/>
          <p:nvPr/>
        </p:nvSpPr>
        <p:spPr>
          <a:xfrm>
            <a:off x="539496" y="3200400"/>
            <a:ext cx="2212848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F0"/>
              </a:buClr>
              <a:buSzPts val="950"/>
              <a:buFont typeface="Consolas"/>
              <a:buNone/>
            </a:pPr>
            <a:r>
              <a:rPr b="0" i="0" lang="pt-BR" sz="950" u="none" cap="none" strike="noStrike">
                <a:solidFill>
                  <a:srgbClr val="A8D8F0"/>
                </a:solidFill>
                <a:latin typeface="Consolas"/>
                <a:ea typeface="Consolas"/>
                <a:cs typeface="Consolas"/>
                <a:sym typeface="Consolas"/>
              </a:rPr>
              <a:t>node_network_receive_bytes_total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F0"/>
              </a:buClr>
              <a:buSzPts val="950"/>
              <a:buFont typeface="Consolas"/>
              <a:buNone/>
            </a:pPr>
            <a:r>
              <a:rPr b="0" i="0" lang="pt-BR" sz="950" u="none" cap="none" strike="noStrike">
                <a:solidFill>
                  <a:srgbClr val="A8D8F0"/>
                </a:solidFill>
                <a:latin typeface="Consolas"/>
                <a:ea typeface="Consolas"/>
                <a:cs typeface="Consolas"/>
                <a:sym typeface="Consolas"/>
              </a:rPr>
              <a:t>node_network_transmit_bytes_total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3246120" y="2651760"/>
            <a:ext cx="2651760" cy="128016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CFD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1"/>
          <p:cNvSpPr/>
          <p:nvPr/>
        </p:nvSpPr>
        <p:spPr>
          <a:xfrm>
            <a:off x="3355848" y="2743200"/>
            <a:ext cx="243230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200"/>
              <a:buFont typeface="Calibri"/>
              <a:buNone/>
            </a:pPr>
            <a:r>
              <a:rPr b="1" i="0" lang="pt-BR" sz="120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Sistema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1"/>
          <p:cNvSpPr/>
          <p:nvPr/>
        </p:nvSpPr>
        <p:spPr>
          <a:xfrm>
            <a:off x="3355848" y="3108960"/>
            <a:ext cx="2432304" cy="713232"/>
          </a:xfrm>
          <a:prstGeom prst="rect">
            <a:avLst/>
          </a:prstGeom>
          <a:solidFill>
            <a:srgbClr val="0D2137"/>
          </a:solidFill>
          <a:ln cap="flat" cmpd="sng" w="12700">
            <a:solidFill>
              <a:srgbClr val="1E4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1"/>
          <p:cNvSpPr/>
          <p:nvPr/>
        </p:nvSpPr>
        <p:spPr>
          <a:xfrm>
            <a:off x="3465576" y="3200400"/>
            <a:ext cx="2212848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F0"/>
              </a:buClr>
              <a:buSzPts val="950"/>
              <a:buFont typeface="Consolas"/>
              <a:buNone/>
            </a:pPr>
            <a:r>
              <a:rPr b="0" i="0" lang="pt-BR" sz="950" u="none" cap="none" strike="noStrike">
                <a:solidFill>
                  <a:srgbClr val="A8D8F0"/>
                </a:solidFill>
                <a:latin typeface="Consolas"/>
                <a:ea typeface="Consolas"/>
                <a:cs typeface="Consolas"/>
                <a:sym typeface="Consolas"/>
              </a:rPr>
              <a:t>node_boot_time_seconds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F0"/>
              </a:buClr>
              <a:buSzPts val="950"/>
              <a:buFont typeface="Consolas"/>
              <a:buNone/>
            </a:pPr>
            <a:r>
              <a:rPr b="0" i="0" lang="pt-BR" sz="950" u="none" cap="none" strike="noStrike">
                <a:solidFill>
                  <a:srgbClr val="A8D8F0"/>
                </a:solidFill>
                <a:latin typeface="Consolas"/>
                <a:ea typeface="Consolas"/>
                <a:cs typeface="Consolas"/>
                <a:sym typeface="Consolas"/>
              </a:rPr>
              <a:t>node_time_seconds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6172200" y="2651760"/>
            <a:ext cx="2651760" cy="128016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CFD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1"/>
          <p:cNvSpPr/>
          <p:nvPr/>
        </p:nvSpPr>
        <p:spPr>
          <a:xfrm>
            <a:off x="6281928" y="2743200"/>
            <a:ext cx="243230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200"/>
              <a:buFont typeface="Calibri"/>
              <a:buNone/>
            </a:pPr>
            <a:r>
              <a:rPr b="1" i="0" lang="pt-BR" sz="120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Processos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1"/>
          <p:cNvSpPr/>
          <p:nvPr/>
        </p:nvSpPr>
        <p:spPr>
          <a:xfrm>
            <a:off x="6281928" y="3108960"/>
            <a:ext cx="2432304" cy="713232"/>
          </a:xfrm>
          <a:prstGeom prst="rect">
            <a:avLst/>
          </a:prstGeom>
          <a:solidFill>
            <a:srgbClr val="0D2137"/>
          </a:solidFill>
          <a:ln cap="flat" cmpd="sng" w="12700">
            <a:solidFill>
              <a:srgbClr val="1E4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1"/>
          <p:cNvSpPr/>
          <p:nvPr/>
        </p:nvSpPr>
        <p:spPr>
          <a:xfrm>
            <a:off x="6391656" y="3200400"/>
            <a:ext cx="2212848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F0"/>
              </a:buClr>
              <a:buSzPts val="950"/>
              <a:buFont typeface="Consolas"/>
              <a:buNone/>
            </a:pPr>
            <a:r>
              <a:rPr b="0" i="0" lang="pt-BR" sz="950" u="none" cap="none" strike="noStrike">
                <a:solidFill>
                  <a:srgbClr val="A8D8F0"/>
                </a:solidFill>
                <a:latin typeface="Consolas"/>
                <a:ea typeface="Consolas"/>
                <a:cs typeface="Consolas"/>
                <a:sym typeface="Consolas"/>
              </a:rPr>
              <a:t>node_procs_running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F0"/>
              </a:buClr>
              <a:buSzPts val="950"/>
              <a:buFont typeface="Consolas"/>
              <a:buNone/>
            </a:pPr>
            <a:r>
              <a:rPr b="0" i="0" lang="pt-BR" sz="950" u="none" cap="none" strike="noStrike">
                <a:solidFill>
                  <a:srgbClr val="A8D8F0"/>
                </a:solidFill>
                <a:latin typeface="Consolas"/>
                <a:ea typeface="Consolas"/>
                <a:cs typeface="Consolas"/>
                <a:sym typeface="Consolas"/>
              </a:rPr>
              <a:t>node_procs_blocked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457200" y="4160520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000"/>
              <a:buFont typeface="Calibri"/>
              <a:buNone/>
            </a:pPr>
            <a:r>
              <a:rPr b="0" i="0" lang="pt-BR" sz="10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Endpoint de métricas acessível em  http://localhost:9100/metrics  (formato texto Prometheus)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8641080" y="485089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alibri"/>
              <a:buNone/>
            </a:pPr>
            <a:r>
              <a:rPr b="0" i="0" lang="pt-BR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2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pt-BR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Metodologia — Arquitetura da Solução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2"/>
          <p:cNvSpPr/>
          <p:nvPr/>
        </p:nvSpPr>
        <p:spPr>
          <a:xfrm>
            <a:off x="429768" y="1874520"/>
            <a:ext cx="1691640" cy="1234440"/>
          </a:xfrm>
          <a:prstGeom prst="rect">
            <a:avLst/>
          </a:prstGeom>
          <a:solidFill>
            <a:srgbClr val="37474F"/>
          </a:solidFill>
          <a:ln>
            <a:noFill/>
          </a:ln>
          <a:effectLst>
            <a:outerShdw blurRad="762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2"/>
          <p:cNvSpPr/>
          <p:nvPr/>
        </p:nvSpPr>
        <p:spPr>
          <a:xfrm>
            <a:off x="502920" y="1965960"/>
            <a:ext cx="1545336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pt-BR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Host Linux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pt-BR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(Servidor)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2"/>
          <p:cNvSpPr/>
          <p:nvPr/>
        </p:nvSpPr>
        <p:spPr>
          <a:xfrm>
            <a:off x="502920" y="2679192"/>
            <a:ext cx="154533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00"/>
              <a:buFont typeface="Consolas"/>
              <a:buNone/>
            </a:pPr>
            <a:r>
              <a:rPr b="0" i="0" lang="pt-BR" sz="800" u="none" cap="none" strike="noStrike">
                <a:solidFill>
                  <a:srgbClr val="B0BEC5"/>
                </a:solidFill>
                <a:latin typeface="Consolas"/>
                <a:ea typeface="Consolas"/>
                <a:cs typeface="Consolas"/>
                <a:sym typeface="Consolas"/>
              </a:rPr>
              <a:t>CPU, RAM, Disco, Rede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2"/>
          <p:cNvSpPr/>
          <p:nvPr/>
        </p:nvSpPr>
        <p:spPr>
          <a:xfrm>
            <a:off x="2048250" y="2080250"/>
            <a:ext cx="649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700"/>
              <a:buFont typeface="Calibri"/>
              <a:buNone/>
            </a:pPr>
            <a:r>
              <a:rPr lang="pt-BR" sz="700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expõe</a:t>
            </a:r>
            <a:r>
              <a:rPr b="0" i="0" lang="pt-BR" sz="7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700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métricas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9" name="Google Shape;239;p22"/>
          <p:cNvCxnSpPr/>
          <p:nvPr/>
        </p:nvCxnSpPr>
        <p:spPr>
          <a:xfrm>
            <a:off x="2157984" y="2491740"/>
            <a:ext cx="429768" cy="0"/>
          </a:xfrm>
          <a:prstGeom prst="straightConnector1">
            <a:avLst/>
          </a:prstGeom>
          <a:noFill/>
          <a:ln cap="flat" cmpd="sng" w="25400">
            <a:solidFill>
              <a:srgbClr val="F57C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0" name="Google Shape;240;p22"/>
          <p:cNvSpPr/>
          <p:nvPr/>
        </p:nvSpPr>
        <p:spPr>
          <a:xfrm>
            <a:off x="2624328" y="1874520"/>
            <a:ext cx="1691640" cy="123444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762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2"/>
          <p:cNvSpPr/>
          <p:nvPr/>
        </p:nvSpPr>
        <p:spPr>
          <a:xfrm>
            <a:off x="2697480" y="1965960"/>
            <a:ext cx="1545336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pt-BR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Node Exporter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2697480" y="2679192"/>
            <a:ext cx="154533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00"/>
              <a:buFont typeface="Consolas"/>
              <a:buNone/>
            </a:pPr>
            <a:r>
              <a:rPr b="0" i="0" lang="pt-BR" sz="800" u="none" cap="none" strike="noStrike">
                <a:solidFill>
                  <a:srgbClr val="B0BEC5"/>
                </a:solidFill>
                <a:latin typeface="Consolas"/>
                <a:ea typeface="Consolas"/>
                <a:cs typeface="Consolas"/>
                <a:sym typeface="Consolas"/>
              </a:rPr>
              <a:t>:9100/metrics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2"/>
          <p:cNvSpPr/>
          <p:nvPr/>
        </p:nvSpPr>
        <p:spPr>
          <a:xfrm>
            <a:off x="4242825" y="2080250"/>
            <a:ext cx="649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700"/>
              <a:buFont typeface="Calibri"/>
              <a:buNone/>
            </a:pPr>
            <a:r>
              <a:rPr b="0" i="0" lang="pt-BR" sz="7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scraping (pull)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4" name="Google Shape;244;p22"/>
          <p:cNvCxnSpPr/>
          <p:nvPr/>
        </p:nvCxnSpPr>
        <p:spPr>
          <a:xfrm>
            <a:off x="4352544" y="2491740"/>
            <a:ext cx="429768" cy="0"/>
          </a:xfrm>
          <a:prstGeom prst="straightConnector1">
            <a:avLst/>
          </a:prstGeom>
          <a:noFill/>
          <a:ln cap="flat" cmpd="sng" w="25400">
            <a:solidFill>
              <a:srgbClr val="F57C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5" name="Google Shape;245;p22"/>
          <p:cNvSpPr/>
          <p:nvPr/>
        </p:nvSpPr>
        <p:spPr>
          <a:xfrm>
            <a:off x="4818888" y="1874520"/>
            <a:ext cx="1691640" cy="1234440"/>
          </a:xfrm>
          <a:prstGeom prst="rect">
            <a:avLst/>
          </a:prstGeom>
          <a:solidFill>
            <a:srgbClr val="1565C0"/>
          </a:solidFill>
          <a:ln>
            <a:noFill/>
          </a:ln>
          <a:effectLst>
            <a:outerShdw blurRad="762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2"/>
          <p:cNvSpPr/>
          <p:nvPr/>
        </p:nvSpPr>
        <p:spPr>
          <a:xfrm>
            <a:off x="4892040" y="1965960"/>
            <a:ext cx="1545336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pt-BR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Prometheus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pt-BR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TSDB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2"/>
          <p:cNvSpPr/>
          <p:nvPr/>
        </p:nvSpPr>
        <p:spPr>
          <a:xfrm>
            <a:off x="4892040" y="2679192"/>
            <a:ext cx="154533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00"/>
              <a:buFont typeface="Consolas"/>
              <a:buNone/>
            </a:pPr>
            <a:r>
              <a:rPr b="0" i="0" lang="pt-BR" sz="800" u="none" cap="none" strike="noStrike">
                <a:solidFill>
                  <a:srgbClr val="B0BEC5"/>
                </a:solidFill>
                <a:latin typeface="Consolas"/>
                <a:ea typeface="Consolas"/>
                <a:cs typeface="Consolas"/>
                <a:sym typeface="Consolas"/>
              </a:rPr>
              <a:t>:9090  |  scrape 15s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2"/>
          <p:cNvSpPr/>
          <p:nvPr/>
        </p:nvSpPr>
        <p:spPr>
          <a:xfrm>
            <a:off x="6437375" y="2080250"/>
            <a:ext cx="649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700"/>
              <a:buFont typeface="Calibri"/>
              <a:buNone/>
            </a:pPr>
            <a:r>
              <a:rPr b="0" i="0" lang="pt-BR" sz="7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query PromQL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9" name="Google Shape;249;p22"/>
          <p:cNvCxnSpPr/>
          <p:nvPr/>
        </p:nvCxnSpPr>
        <p:spPr>
          <a:xfrm>
            <a:off x="6547104" y="2491740"/>
            <a:ext cx="429768" cy="0"/>
          </a:xfrm>
          <a:prstGeom prst="straightConnector1">
            <a:avLst/>
          </a:prstGeom>
          <a:noFill/>
          <a:ln cap="flat" cmpd="sng" w="25400">
            <a:solidFill>
              <a:srgbClr val="F57C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0" name="Google Shape;250;p22"/>
          <p:cNvSpPr/>
          <p:nvPr/>
        </p:nvSpPr>
        <p:spPr>
          <a:xfrm>
            <a:off x="7013448" y="1874520"/>
            <a:ext cx="1691640" cy="1234440"/>
          </a:xfrm>
          <a:prstGeom prst="rect">
            <a:avLst/>
          </a:prstGeom>
          <a:solidFill>
            <a:srgbClr val="E65100"/>
          </a:solidFill>
          <a:ln>
            <a:noFill/>
          </a:ln>
          <a:effectLst>
            <a:outerShdw blurRad="762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2"/>
          <p:cNvSpPr/>
          <p:nvPr/>
        </p:nvSpPr>
        <p:spPr>
          <a:xfrm>
            <a:off x="7086600" y="1965960"/>
            <a:ext cx="1545336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pt-BR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Grafana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2"/>
          <p:cNvSpPr/>
          <p:nvPr/>
        </p:nvSpPr>
        <p:spPr>
          <a:xfrm>
            <a:off x="7086600" y="2679192"/>
            <a:ext cx="154533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00"/>
              <a:buFont typeface="Consolas"/>
              <a:buNone/>
            </a:pPr>
            <a:r>
              <a:rPr b="0" i="0" lang="pt-BR" sz="800" u="none" cap="none" strike="noStrike">
                <a:solidFill>
                  <a:srgbClr val="B0BEC5"/>
                </a:solidFill>
                <a:latin typeface="Consolas"/>
                <a:ea typeface="Consolas"/>
                <a:cs typeface="Consolas"/>
                <a:sym typeface="Consolas"/>
              </a:rPr>
              <a:t>:3000  |  Dashboard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2"/>
          <p:cNvSpPr/>
          <p:nvPr/>
        </p:nvSpPr>
        <p:spPr>
          <a:xfrm>
            <a:off x="457200" y="3291840"/>
            <a:ext cx="8229600" cy="137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FD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2"/>
          <p:cNvSpPr/>
          <p:nvPr/>
        </p:nvSpPr>
        <p:spPr>
          <a:xfrm>
            <a:off x="640080" y="3364992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Todos os serviços são orquestrados via Docker Compose em uma rede interna isolada (bridge network).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2"/>
          <p:cNvSpPr/>
          <p:nvPr/>
        </p:nvSpPr>
        <p:spPr>
          <a:xfrm>
            <a:off x="640080" y="3730752"/>
            <a:ext cx="7863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000"/>
              <a:buFont typeface="Calibri"/>
              <a:buNone/>
            </a:pPr>
            <a:r>
              <a:rPr b="0" i="0" lang="pt-BR" sz="10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Node Exporter expõe métricas do SO  →  Prometheus faz scraping HTTP a cada 15s e armazena no TSDB  →  Grafana consulta o Prometheus via PromQL e renderiza os painéis com atualização automática de 10s.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2"/>
          <p:cNvSpPr/>
          <p:nvPr/>
        </p:nvSpPr>
        <p:spPr>
          <a:xfrm>
            <a:off x="8641080" y="485089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alibri"/>
              <a:buNone/>
            </a:pPr>
            <a:r>
              <a:rPr b="0" i="0" lang="pt-BR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3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3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pt-BR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Metodologia — Docker Compose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3"/>
          <p:cNvSpPr/>
          <p:nvPr/>
        </p:nvSpPr>
        <p:spPr>
          <a:xfrm>
            <a:off x="457200" y="749808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300"/>
              <a:buFont typeface="Calibri"/>
              <a:buNone/>
            </a:pPr>
            <a:r>
              <a:rPr b="0" i="0" lang="pt-BR" sz="130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Um único comando sobe toda a stack de monitoramento: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3"/>
          <p:cNvSpPr/>
          <p:nvPr/>
        </p:nvSpPr>
        <p:spPr>
          <a:xfrm>
            <a:off x="457200" y="1170432"/>
            <a:ext cx="3200400" cy="384048"/>
          </a:xfrm>
          <a:prstGeom prst="rect">
            <a:avLst/>
          </a:prstGeom>
          <a:solidFill>
            <a:srgbClr val="0D2137"/>
          </a:solidFill>
          <a:ln cap="flat" cmpd="sng" w="12700">
            <a:solidFill>
              <a:srgbClr val="1E4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3"/>
          <p:cNvSpPr/>
          <p:nvPr/>
        </p:nvSpPr>
        <p:spPr>
          <a:xfrm>
            <a:off x="566928" y="1261872"/>
            <a:ext cx="29809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F0"/>
              </a:buClr>
              <a:buSzPts val="950"/>
              <a:buFont typeface="Consolas"/>
              <a:buNone/>
            </a:pPr>
            <a:r>
              <a:rPr b="0" i="0" lang="pt-BR" sz="950" u="none" cap="none" strike="noStrike">
                <a:solidFill>
                  <a:srgbClr val="A8D8F0"/>
                </a:solidFill>
                <a:latin typeface="Consolas"/>
                <a:ea typeface="Consolas"/>
                <a:cs typeface="Consolas"/>
                <a:sym typeface="Consolas"/>
              </a:rPr>
              <a:t>$ docker compose up -d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3"/>
          <p:cNvSpPr/>
          <p:nvPr/>
        </p:nvSpPr>
        <p:spPr>
          <a:xfrm>
            <a:off x="320050" y="1691649"/>
            <a:ext cx="2651700" cy="2138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FD8DC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3"/>
          <p:cNvSpPr/>
          <p:nvPr/>
        </p:nvSpPr>
        <p:spPr>
          <a:xfrm>
            <a:off x="320040" y="1691640"/>
            <a:ext cx="265176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3"/>
          <p:cNvSpPr/>
          <p:nvPr/>
        </p:nvSpPr>
        <p:spPr>
          <a:xfrm>
            <a:off x="411480" y="169164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0" lang="pt-BR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node-exporter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3"/>
          <p:cNvSpPr/>
          <p:nvPr/>
        </p:nvSpPr>
        <p:spPr>
          <a:xfrm>
            <a:off x="411480" y="1993392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onsolas"/>
              <a:buNone/>
            </a:pPr>
            <a:r>
              <a:rPr b="0" i="0" lang="pt-BR" sz="900" u="none" cap="none" strike="noStrike">
                <a:solidFill>
                  <a:srgbClr val="B0BEC5"/>
                </a:solidFill>
                <a:latin typeface="Consolas"/>
                <a:ea typeface="Consolas"/>
                <a:cs typeface="Consolas"/>
                <a:sym typeface="Consolas"/>
              </a:rPr>
              <a:t>:9100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3"/>
          <p:cNvSpPr/>
          <p:nvPr/>
        </p:nvSpPr>
        <p:spPr>
          <a:xfrm>
            <a:off x="457200" y="2286000"/>
            <a:ext cx="23774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050"/>
              <a:buFont typeface="Calibri"/>
              <a:buNone/>
            </a:pPr>
            <a:r>
              <a:rPr b="0" i="0" lang="pt-BR" sz="105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Coleta métricas do host.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050"/>
              <a:buFont typeface="Calibri"/>
              <a:buNone/>
            </a:pPr>
            <a:r>
              <a:rPr b="0" i="0" lang="pt-BR" sz="105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Monta /proc, /sys, /.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050"/>
              <a:buFont typeface="Calibri"/>
              <a:buNone/>
            </a:pPr>
            <a:r>
              <a:rPr b="0" i="0" lang="pt-BR" sz="105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Expõe endpoint HTTP.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3"/>
          <p:cNvSpPr/>
          <p:nvPr/>
        </p:nvSpPr>
        <p:spPr>
          <a:xfrm>
            <a:off x="3223270" y="1691649"/>
            <a:ext cx="2651700" cy="2138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FD8DC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3"/>
          <p:cNvSpPr/>
          <p:nvPr/>
        </p:nvSpPr>
        <p:spPr>
          <a:xfrm>
            <a:off x="3223260" y="1691640"/>
            <a:ext cx="2651760" cy="5029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3"/>
          <p:cNvSpPr/>
          <p:nvPr/>
        </p:nvSpPr>
        <p:spPr>
          <a:xfrm>
            <a:off x="3314700" y="169164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0" lang="pt-BR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prometheus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3"/>
          <p:cNvSpPr/>
          <p:nvPr/>
        </p:nvSpPr>
        <p:spPr>
          <a:xfrm>
            <a:off x="3314700" y="1993392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onsolas"/>
              <a:buNone/>
            </a:pPr>
            <a:r>
              <a:rPr b="0" i="0" lang="pt-BR" sz="900" u="none" cap="none" strike="noStrike">
                <a:solidFill>
                  <a:srgbClr val="B0BEC5"/>
                </a:solidFill>
                <a:latin typeface="Consolas"/>
                <a:ea typeface="Consolas"/>
                <a:cs typeface="Consolas"/>
                <a:sym typeface="Consolas"/>
              </a:rPr>
              <a:t>:9090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3"/>
          <p:cNvSpPr/>
          <p:nvPr/>
        </p:nvSpPr>
        <p:spPr>
          <a:xfrm>
            <a:off x="3360420" y="2286000"/>
            <a:ext cx="23774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050"/>
              <a:buFont typeface="Calibri"/>
              <a:buNone/>
            </a:pPr>
            <a:r>
              <a:rPr b="0" i="0" lang="pt-BR" sz="105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Recebe configuração em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050"/>
              <a:buFont typeface="Calibri"/>
              <a:buNone/>
            </a:pPr>
            <a:r>
              <a:rPr b="0" i="0" lang="pt-BR" sz="105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prometheus.yml.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050"/>
              <a:buFont typeface="Calibri"/>
              <a:buNone/>
            </a:pPr>
            <a:r>
              <a:rPr b="0" i="0" lang="pt-BR" sz="105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Armazena séries temporais.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3"/>
          <p:cNvSpPr/>
          <p:nvPr/>
        </p:nvSpPr>
        <p:spPr>
          <a:xfrm>
            <a:off x="6126490" y="1691649"/>
            <a:ext cx="2651700" cy="2138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FD8DC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3"/>
          <p:cNvSpPr/>
          <p:nvPr/>
        </p:nvSpPr>
        <p:spPr>
          <a:xfrm>
            <a:off x="6126480" y="1691640"/>
            <a:ext cx="2651760" cy="50292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3"/>
          <p:cNvSpPr/>
          <p:nvPr/>
        </p:nvSpPr>
        <p:spPr>
          <a:xfrm>
            <a:off x="6217920" y="169164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0" lang="pt-BR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grafana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3"/>
          <p:cNvSpPr/>
          <p:nvPr/>
        </p:nvSpPr>
        <p:spPr>
          <a:xfrm>
            <a:off x="6217920" y="1993392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onsolas"/>
              <a:buNone/>
            </a:pPr>
            <a:r>
              <a:rPr b="0" i="0" lang="pt-BR" sz="900" u="none" cap="none" strike="noStrike">
                <a:solidFill>
                  <a:srgbClr val="B0BEC5"/>
                </a:solidFill>
                <a:latin typeface="Consolas"/>
                <a:ea typeface="Consolas"/>
                <a:cs typeface="Consolas"/>
                <a:sym typeface="Consolas"/>
              </a:rPr>
              <a:t>:3000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3"/>
          <p:cNvSpPr/>
          <p:nvPr/>
        </p:nvSpPr>
        <p:spPr>
          <a:xfrm>
            <a:off x="6263640" y="2286000"/>
            <a:ext cx="23774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050"/>
              <a:buFont typeface="Calibri"/>
              <a:buNone/>
            </a:pPr>
            <a:r>
              <a:rPr b="0" i="0" lang="pt-BR" sz="105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Dashboard provisionado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050"/>
              <a:buFont typeface="Calibri"/>
              <a:buNone/>
            </a:pPr>
            <a:r>
              <a:rPr b="0" i="0" lang="pt-BR" sz="105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automaticamente.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050"/>
              <a:buFont typeface="Calibri"/>
              <a:buNone/>
            </a:pPr>
            <a:r>
              <a:rPr b="0" i="0" lang="pt-BR" sz="105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Login: admin/admin.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3"/>
          <p:cNvSpPr/>
          <p:nvPr/>
        </p:nvSpPr>
        <p:spPr>
          <a:xfrm>
            <a:off x="320050" y="3967224"/>
            <a:ext cx="4114800" cy="943200"/>
          </a:xfrm>
          <a:prstGeom prst="rect">
            <a:avLst/>
          </a:prstGeom>
          <a:solidFill>
            <a:srgbClr val="0D2137"/>
          </a:solidFill>
          <a:ln cap="flat" cmpd="sng" w="12700">
            <a:solidFill>
              <a:srgbClr val="1E4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3"/>
          <p:cNvSpPr/>
          <p:nvPr/>
        </p:nvSpPr>
        <p:spPr>
          <a:xfrm>
            <a:off x="429850" y="4058656"/>
            <a:ext cx="38952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F0"/>
              </a:buClr>
              <a:buSzPts val="950"/>
              <a:buFont typeface="Consolas"/>
              <a:buNone/>
            </a:pPr>
            <a:r>
              <a:rPr b="0" i="0" lang="pt-BR" sz="950" u="none" cap="none" strike="noStrike">
                <a:solidFill>
                  <a:srgbClr val="A8D8F0"/>
                </a:solidFill>
                <a:latin typeface="Consolas"/>
                <a:ea typeface="Consolas"/>
                <a:cs typeface="Consolas"/>
                <a:sym typeface="Consolas"/>
              </a:rPr>
              <a:t># Parar e remover containers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F0"/>
              </a:buClr>
              <a:buSzPts val="950"/>
              <a:buFont typeface="Consolas"/>
              <a:buNone/>
            </a:pPr>
            <a:r>
              <a:rPr b="0" i="0" lang="pt-BR" sz="950" u="none" cap="none" strike="noStrike">
                <a:solidFill>
                  <a:srgbClr val="A8D8F0"/>
                </a:solidFill>
                <a:latin typeface="Consolas"/>
                <a:ea typeface="Consolas"/>
                <a:cs typeface="Consolas"/>
                <a:sym typeface="Consolas"/>
              </a:rPr>
              <a:t>$ docker compose down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F0"/>
              </a:buClr>
              <a:buSzPts val="950"/>
              <a:buFont typeface="Consolas"/>
              <a:buNone/>
            </a:pPr>
            <a:r>
              <a:rPr b="0" i="0" lang="pt-BR" sz="950" u="none" cap="none" strike="noStrike">
                <a:solidFill>
                  <a:srgbClr val="A8D8F0"/>
                </a:solidFill>
                <a:latin typeface="Consolas"/>
                <a:ea typeface="Consolas"/>
                <a:cs typeface="Consolas"/>
                <a:sym typeface="Consolas"/>
              </a:rPr>
              <a:t># Remover também os volumes (dados)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F0"/>
              </a:buClr>
              <a:buSzPts val="950"/>
              <a:buFont typeface="Consolas"/>
              <a:buNone/>
            </a:pPr>
            <a:r>
              <a:rPr b="0" i="0" lang="pt-BR" sz="950" u="none" cap="none" strike="noStrike">
                <a:solidFill>
                  <a:srgbClr val="A8D8F0"/>
                </a:solidFill>
                <a:latin typeface="Consolas"/>
                <a:ea typeface="Consolas"/>
                <a:cs typeface="Consolas"/>
                <a:sym typeface="Consolas"/>
              </a:rPr>
              <a:t>$ docker compose down -v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3"/>
          <p:cNvSpPr/>
          <p:nvPr/>
        </p:nvSpPr>
        <p:spPr>
          <a:xfrm>
            <a:off x="4572000" y="4025650"/>
            <a:ext cx="4297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50"/>
              <a:buFont typeface="Calibri"/>
              <a:buNone/>
            </a:pPr>
            <a:r>
              <a:rPr b="0" i="0" lang="pt-BR" sz="95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Pré-requisito: Docker Desktop instalado e em execução  |  docker.com/products/docker-desktop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3"/>
          <p:cNvSpPr/>
          <p:nvPr/>
        </p:nvSpPr>
        <p:spPr>
          <a:xfrm>
            <a:off x="8641080" y="485089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alibri"/>
              <a:buNone/>
            </a:pPr>
            <a:r>
              <a:rPr b="0" i="0" lang="pt-BR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4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4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pt-BR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Metodologia — prometheus.yml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4"/>
          <p:cNvSpPr/>
          <p:nvPr/>
        </p:nvSpPr>
        <p:spPr>
          <a:xfrm>
            <a:off x="457200" y="777240"/>
            <a:ext cx="5029200" cy="4023360"/>
          </a:xfrm>
          <a:prstGeom prst="rect">
            <a:avLst/>
          </a:prstGeom>
          <a:solidFill>
            <a:srgbClr val="0D2137"/>
          </a:solidFill>
          <a:ln cap="flat" cmpd="sng" w="12700">
            <a:solidFill>
              <a:srgbClr val="1E4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4"/>
          <p:cNvSpPr/>
          <p:nvPr/>
        </p:nvSpPr>
        <p:spPr>
          <a:xfrm>
            <a:off x="566928" y="868680"/>
            <a:ext cx="4809744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F0"/>
              </a:buClr>
              <a:buSzPts val="950"/>
              <a:buFont typeface="Consolas"/>
              <a:buNone/>
            </a:pPr>
            <a:r>
              <a:rPr b="0" i="0" lang="pt-BR" sz="950" u="none" cap="none" strike="noStrike">
                <a:solidFill>
                  <a:srgbClr val="A8D8F0"/>
                </a:solidFill>
                <a:latin typeface="Consolas"/>
                <a:ea typeface="Consolas"/>
                <a:cs typeface="Consolas"/>
                <a:sym typeface="Consolas"/>
              </a:rPr>
              <a:t>global: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F0"/>
              </a:buClr>
              <a:buSzPts val="950"/>
              <a:buFont typeface="Consolas"/>
              <a:buNone/>
            </a:pPr>
            <a:r>
              <a:rPr b="0" i="0" lang="pt-BR" sz="950" u="none" cap="none" strike="noStrike">
                <a:solidFill>
                  <a:srgbClr val="A8D8F0"/>
                </a:solidFill>
                <a:latin typeface="Consolas"/>
                <a:ea typeface="Consolas"/>
                <a:cs typeface="Consolas"/>
                <a:sym typeface="Consolas"/>
              </a:rPr>
              <a:t>  scrape_interval: 15s         # coleta métricas a cada 15 segundos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F0"/>
              </a:buClr>
              <a:buSzPts val="950"/>
              <a:buFont typeface="Consolas"/>
              <a:buNone/>
            </a:pPr>
            <a:r>
              <a:rPr b="0" i="0" lang="pt-BR" sz="950" u="none" cap="none" strike="noStrike">
                <a:solidFill>
                  <a:srgbClr val="A8D8F0"/>
                </a:solidFill>
                <a:latin typeface="Consolas"/>
                <a:ea typeface="Consolas"/>
                <a:cs typeface="Consolas"/>
                <a:sym typeface="Consolas"/>
              </a:rPr>
              <a:t>  evaluation_interval: 15s     # avalia regras de alerta a cada 15s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F0"/>
              </a:buClr>
              <a:buSzPts val="950"/>
              <a:buFont typeface="Consolas"/>
              <a:buNone/>
            </a:pPr>
            <a:r>
              <a:rPr b="0" i="0" lang="pt-BR" sz="950" u="none" cap="none" strike="noStrike">
                <a:solidFill>
                  <a:srgbClr val="A8D8F0"/>
                </a:solidFill>
                <a:latin typeface="Consolas"/>
                <a:ea typeface="Consolas"/>
                <a:cs typeface="Consolas"/>
                <a:sym typeface="Consolas"/>
              </a:rPr>
              <a:t>scrape_configs: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F0"/>
              </a:buClr>
              <a:buSzPts val="950"/>
              <a:buFont typeface="Consolas"/>
              <a:buNone/>
            </a:pPr>
            <a:r>
              <a:rPr b="0" i="0" lang="pt-BR" sz="950" u="none" cap="none" strike="noStrike">
                <a:solidFill>
                  <a:srgbClr val="A8D8F0"/>
                </a:solidFill>
                <a:latin typeface="Consolas"/>
                <a:ea typeface="Consolas"/>
                <a:cs typeface="Consolas"/>
                <a:sym typeface="Consolas"/>
              </a:rPr>
              <a:t>  - job_name: "prometheus"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F0"/>
              </a:buClr>
              <a:buSzPts val="950"/>
              <a:buFont typeface="Consolas"/>
              <a:buNone/>
            </a:pPr>
            <a:r>
              <a:rPr b="0" i="0" lang="pt-BR" sz="950" u="none" cap="none" strike="noStrike">
                <a:solidFill>
                  <a:srgbClr val="A8D8F0"/>
                </a:solidFill>
                <a:latin typeface="Consolas"/>
                <a:ea typeface="Consolas"/>
                <a:cs typeface="Consolas"/>
                <a:sym typeface="Consolas"/>
              </a:rPr>
              <a:t>    static_configs: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F0"/>
              </a:buClr>
              <a:buSzPts val="950"/>
              <a:buFont typeface="Consolas"/>
              <a:buNone/>
            </a:pPr>
            <a:r>
              <a:rPr b="0" i="0" lang="pt-BR" sz="950" u="none" cap="none" strike="noStrike">
                <a:solidFill>
                  <a:srgbClr val="A8D8F0"/>
                </a:solidFill>
                <a:latin typeface="Consolas"/>
                <a:ea typeface="Consolas"/>
                <a:cs typeface="Consolas"/>
                <a:sym typeface="Consolas"/>
              </a:rPr>
              <a:t>      - targets: ["localhost:9090"]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F0"/>
              </a:buClr>
              <a:buSzPts val="950"/>
              <a:buFont typeface="Consolas"/>
              <a:buNone/>
            </a:pPr>
            <a:r>
              <a:rPr b="0" i="0" lang="pt-BR" sz="950" u="none" cap="none" strike="noStrike">
                <a:solidFill>
                  <a:srgbClr val="A8D8F0"/>
                </a:solidFill>
                <a:latin typeface="Consolas"/>
                <a:ea typeface="Consolas"/>
                <a:cs typeface="Consolas"/>
                <a:sym typeface="Consolas"/>
              </a:rPr>
              <a:t>  - job_name: "node-exporter"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F0"/>
              </a:buClr>
              <a:buSzPts val="950"/>
              <a:buFont typeface="Consolas"/>
              <a:buNone/>
            </a:pPr>
            <a:r>
              <a:rPr b="0" i="0" lang="pt-BR" sz="950" u="none" cap="none" strike="noStrike">
                <a:solidFill>
                  <a:srgbClr val="A8D8F0"/>
                </a:solidFill>
                <a:latin typeface="Consolas"/>
                <a:ea typeface="Consolas"/>
                <a:cs typeface="Consolas"/>
                <a:sym typeface="Consolas"/>
              </a:rPr>
              <a:t>    static_configs: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F0"/>
              </a:buClr>
              <a:buSzPts val="950"/>
              <a:buFont typeface="Consolas"/>
              <a:buNone/>
            </a:pPr>
            <a:r>
              <a:rPr b="0" i="0" lang="pt-BR" sz="950" u="none" cap="none" strike="noStrike">
                <a:solidFill>
                  <a:srgbClr val="A8D8F0"/>
                </a:solidFill>
                <a:latin typeface="Consolas"/>
                <a:ea typeface="Consolas"/>
                <a:cs typeface="Consolas"/>
                <a:sym typeface="Consolas"/>
              </a:rPr>
              <a:t>      - targets: ["node-exporter:9100"]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F0"/>
              </a:buClr>
              <a:buSzPts val="950"/>
              <a:buFont typeface="Consolas"/>
              <a:buNone/>
            </a:pPr>
            <a:r>
              <a:rPr b="0" i="0" lang="pt-BR" sz="950" u="none" cap="none" strike="noStrike">
                <a:solidFill>
                  <a:srgbClr val="A8D8F0"/>
                </a:solidFill>
                <a:latin typeface="Consolas"/>
                <a:ea typeface="Consolas"/>
                <a:cs typeface="Consolas"/>
                <a:sym typeface="Consolas"/>
              </a:rPr>
              <a:t>    relabel_configs: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F0"/>
              </a:buClr>
              <a:buSzPts val="950"/>
              <a:buFont typeface="Consolas"/>
              <a:buNone/>
            </a:pPr>
            <a:r>
              <a:rPr b="0" i="0" lang="pt-BR" sz="950" u="none" cap="none" strike="noStrike">
                <a:solidFill>
                  <a:srgbClr val="A8D8F0"/>
                </a:solidFill>
                <a:latin typeface="Consolas"/>
                <a:ea typeface="Consolas"/>
                <a:cs typeface="Consolas"/>
                <a:sym typeface="Consolas"/>
              </a:rPr>
              <a:t>      - source_labels: [__address__]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F0"/>
              </a:buClr>
              <a:buSzPts val="950"/>
              <a:buFont typeface="Consolas"/>
              <a:buNone/>
            </a:pPr>
            <a:r>
              <a:rPr b="0" i="0" lang="pt-BR" sz="950" u="none" cap="none" strike="noStrike">
                <a:solidFill>
                  <a:srgbClr val="A8D8F0"/>
                </a:solidFill>
                <a:latin typeface="Consolas"/>
                <a:ea typeface="Consolas"/>
                <a:cs typeface="Consolas"/>
                <a:sym typeface="Consolas"/>
              </a:rPr>
              <a:t>        target_label: instance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F0"/>
              </a:buClr>
              <a:buSzPts val="950"/>
              <a:buFont typeface="Consolas"/>
              <a:buNone/>
            </a:pPr>
            <a:r>
              <a:rPr b="0" i="0" lang="pt-BR" sz="950" u="none" cap="none" strike="noStrike">
                <a:solidFill>
                  <a:srgbClr val="A8D8F0"/>
                </a:solidFill>
                <a:latin typeface="Consolas"/>
                <a:ea typeface="Consolas"/>
                <a:cs typeface="Consolas"/>
                <a:sym typeface="Consolas"/>
              </a:rPr>
              <a:t>        replacement: "servidor-linux"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5" name="Google Shape;295;p24"/>
          <p:cNvCxnSpPr/>
          <p:nvPr/>
        </p:nvCxnSpPr>
        <p:spPr>
          <a:xfrm>
            <a:off x="5440680" y="1143000"/>
            <a:ext cx="365760" cy="0"/>
          </a:xfrm>
          <a:prstGeom prst="straightConnector1">
            <a:avLst/>
          </a:prstGeom>
          <a:noFill/>
          <a:ln cap="flat" cmpd="sng" w="12700">
            <a:solidFill>
              <a:srgbClr val="E6510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96" name="Google Shape;296;p24"/>
          <p:cNvSpPr/>
          <p:nvPr/>
        </p:nvSpPr>
        <p:spPr>
          <a:xfrm>
            <a:off x="5806440" y="1024128"/>
            <a:ext cx="2880360" cy="274320"/>
          </a:xfrm>
          <a:prstGeom prst="rect">
            <a:avLst/>
          </a:prstGeom>
          <a:solidFill>
            <a:srgbClr val="FFF3E0"/>
          </a:solidFill>
          <a:ln cap="flat" cmpd="sng" w="9525">
            <a:solidFill>
              <a:srgbClr val="F57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4"/>
          <p:cNvSpPr/>
          <p:nvPr/>
        </p:nvSpPr>
        <p:spPr>
          <a:xfrm>
            <a:off x="5870448" y="102412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360C"/>
              </a:buClr>
              <a:buSzPts val="950"/>
              <a:buFont typeface="Calibri"/>
              <a:buNone/>
            </a:pPr>
            <a:r>
              <a:rPr b="0" i="0" lang="pt-BR" sz="950" u="none" cap="none" strike="noStrike">
                <a:solidFill>
                  <a:srgbClr val="BF360C"/>
                </a:solidFill>
                <a:latin typeface="Calibri"/>
                <a:ea typeface="Calibri"/>
                <a:cs typeface="Calibri"/>
                <a:sym typeface="Calibri"/>
              </a:rPr>
              <a:t>Intervalo global de scraping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8" name="Google Shape;298;p24"/>
          <p:cNvCxnSpPr/>
          <p:nvPr/>
        </p:nvCxnSpPr>
        <p:spPr>
          <a:xfrm>
            <a:off x="5440680" y="1993392"/>
            <a:ext cx="365760" cy="0"/>
          </a:xfrm>
          <a:prstGeom prst="straightConnector1">
            <a:avLst/>
          </a:prstGeom>
          <a:noFill/>
          <a:ln cap="flat" cmpd="sng" w="12700">
            <a:solidFill>
              <a:srgbClr val="E6510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99" name="Google Shape;299;p24"/>
          <p:cNvSpPr/>
          <p:nvPr/>
        </p:nvSpPr>
        <p:spPr>
          <a:xfrm>
            <a:off x="5806440" y="1874520"/>
            <a:ext cx="2880360" cy="274320"/>
          </a:xfrm>
          <a:prstGeom prst="rect">
            <a:avLst/>
          </a:prstGeom>
          <a:solidFill>
            <a:srgbClr val="FFF3E0"/>
          </a:solidFill>
          <a:ln cap="flat" cmpd="sng" w="9525">
            <a:solidFill>
              <a:srgbClr val="F57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4"/>
          <p:cNvSpPr/>
          <p:nvPr/>
        </p:nvSpPr>
        <p:spPr>
          <a:xfrm>
            <a:off x="5870448" y="18745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360C"/>
              </a:buClr>
              <a:buSzPts val="950"/>
              <a:buFont typeface="Calibri"/>
              <a:buNone/>
            </a:pPr>
            <a:r>
              <a:rPr b="0" i="0" lang="pt-BR" sz="950" u="none" cap="none" strike="noStrike">
                <a:solidFill>
                  <a:srgbClr val="BF360C"/>
                </a:solidFill>
                <a:latin typeface="Calibri"/>
                <a:ea typeface="Calibri"/>
                <a:cs typeface="Calibri"/>
                <a:sym typeface="Calibri"/>
              </a:rPr>
              <a:t>Prometheus auto-monitora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1" name="Google Shape;301;p24"/>
          <p:cNvCxnSpPr/>
          <p:nvPr/>
        </p:nvCxnSpPr>
        <p:spPr>
          <a:xfrm>
            <a:off x="5440680" y="2606040"/>
            <a:ext cx="365760" cy="0"/>
          </a:xfrm>
          <a:prstGeom prst="straightConnector1">
            <a:avLst/>
          </a:prstGeom>
          <a:noFill/>
          <a:ln cap="flat" cmpd="sng" w="12700">
            <a:solidFill>
              <a:srgbClr val="E6510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02" name="Google Shape;302;p24"/>
          <p:cNvSpPr/>
          <p:nvPr/>
        </p:nvSpPr>
        <p:spPr>
          <a:xfrm>
            <a:off x="5806440" y="2487168"/>
            <a:ext cx="2880360" cy="274320"/>
          </a:xfrm>
          <a:prstGeom prst="rect">
            <a:avLst/>
          </a:prstGeom>
          <a:solidFill>
            <a:srgbClr val="FFF3E0"/>
          </a:solidFill>
          <a:ln cap="flat" cmpd="sng" w="9525">
            <a:solidFill>
              <a:srgbClr val="F57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4"/>
          <p:cNvSpPr/>
          <p:nvPr/>
        </p:nvSpPr>
        <p:spPr>
          <a:xfrm>
            <a:off x="5870448" y="248716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360C"/>
              </a:buClr>
              <a:buSzPts val="950"/>
              <a:buFont typeface="Calibri"/>
              <a:buNone/>
            </a:pPr>
            <a:r>
              <a:rPr b="0" i="0" lang="pt-BR" sz="950" u="none" cap="none" strike="noStrike">
                <a:solidFill>
                  <a:srgbClr val="BF360C"/>
                </a:solidFill>
                <a:latin typeface="Calibri"/>
                <a:ea typeface="Calibri"/>
                <a:cs typeface="Calibri"/>
                <a:sym typeface="Calibri"/>
              </a:rPr>
              <a:t>Node Exporter como alvo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4" name="Google Shape;304;p24"/>
          <p:cNvCxnSpPr/>
          <p:nvPr/>
        </p:nvCxnSpPr>
        <p:spPr>
          <a:xfrm>
            <a:off x="5440680" y="3520440"/>
            <a:ext cx="365760" cy="0"/>
          </a:xfrm>
          <a:prstGeom prst="straightConnector1">
            <a:avLst/>
          </a:prstGeom>
          <a:noFill/>
          <a:ln cap="flat" cmpd="sng" w="12700">
            <a:solidFill>
              <a:srgbClr val="E6510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05" name="Google Shape;305;p24"/>
          <p:cNvSpPr/>
          <p:nvPr/>
        </p:nvSpPr>
        <p:spPr>
          <a:xfrm>
            <a:off x="5806440" y="3401568"/>
            <a:ext cx="2880360" cy="274320"/>
          </a:xfrm>
          <a:prstGeom prst="rect">
            <a:avLst/>
          </a:prstGeom>
          <a:solidFill>
            <a:srgbClr val="FFF3E0"/>
          </a:solidFill>
          <a:ln cap="flat" cmpd="sng" w="9525">
            <a:solidFill>
              <a:srgbClr val="F57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4"/>
          <p:cNvSpPr/>
          <p:nvPr/>
        </p:nvSpPr>
        <p:spPr>
          <a:xfrm>
            <a:off x="5870448" y="340156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360C"/>
              </a:buClr>
              <a:buSzPts val="950"/>
              <a:buFont typeface="Calibri"/>
              <a:buNone/>
            </a:pPr>
            <a:r>
              <a:rPr b="0" i="0" lang="pt-BR" sz="950" u="none" cap="none" strike="noStrike">
                <a:solidFill>
                  <a:srgbClr val="BF360C"/>
                </a:solidFill>
                <a:latin typeface="Calibri"/>
                <a:ea typeface="Calibri"/>
                <a:cs typeface="Calibri"/>
                <a:sym typeface="Calibri"/>
              </a:rPr>
              <a:t>Rename para facilitar no dashboard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4"/>
          <p:cNvSpPr/>
          <p:nvPr/>
        </p:nvSpPr>
        <p:spPr>
          <a:xfrm>
            <a:off x="8641080" y="485089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alibri"/>
              <a:buNone/>
            </a:pPr>
            <a:r>
              <a:rPr b="0" i="0" lang="pt-BR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5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25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pt-BR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Metodologia — Queries PromQL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5"/>
          <p:cNvSpPr/>
          <p:nvPr/>
        </p:nvSpPr>
        <p:spPr>
          <a:xfrm>
            <a:off x="320040" y="777240"/>
            <a:ext cx="8503920" cy="960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5"/>
          <p:cNvSpPr/>
          <p:nvPr/>
        </p:nvSpPr>
        <p:spPr>
          <a:xfrm>
            <a:off x="320040" y="777240"/>
            <a:ext cx="64008" cy="9601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5"/>
          <p:cNvSpPr/>
          <p:nvPr/>
        </p:nvSpPr>
        <p:spPr>
          <a:xfrm>
            <a:off x="502920" y="82296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CPU Total em Uso (%)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5"/>
          <p:cNvSpPr/>
          <p:nvPr/>
        </p:nvSpPr>
        <p:spPr>
          <a:xfrm>
            <a:off x="502920" y="1124712"/>
            <a:ext cx="4297680" cy="475488"/>
          </a:xfrm>
          <a:prstGeom prst="rect">
            <a:avLst/>
          </a:prstGeom>
          <a:solidFill>
            <a:srgbClr val="0D2137"/>
          </a:solidFill>
          <a:ln cap="flat" cmpd="sng" w="12700">
            <a:solidFill>
              <a:srgbClr val="1E4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5"/>
          <p:cNvSpPr/>
          <p:nvPr/>
        </p:nvSpPr>
        <p:spPr>
          <a:xfrm>
            <a:off x="612648" y="1216152"/>
            <a:ext cx="4078224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F0"/>
              </a:buClr>
              <a:buSzPts val="950"/>
              <a:buFont typeface="Consolas"/>
              <a:buNone/>
            </a:pPr>
            <a:r>
              <a:rPr b="0" i="0" lang="pt-BR" sz="950" u="none" cap="none" strike="noStrike">
                <a:solidFill>
                  <a:srgbClr val="A8D8F0"/>
                </a:solidFill>
                <a:latin typeface="Consolas"/>
                <a:ea typeface="Consolas"/>
                <a:cs typeface="Consolas"/>
                <a:sym typeface="Consolas"/>
              </a:rPr>
              <a:t>(1 - avg(irate(node_cpu_seconds_total{mode="idle"}[5m]))) * 100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5"/>
          <p:cNvSpPr/>
          <p:nvPr/>
        </p:nvSpPr>
        <p:spPr>
          <a:xfrm>
            <a:off x="4937760" y="868680"/>
            <a:ext cx="3794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50"/>
              <a:buFont typeface="Calibri"/>
              <a:buNone/>
            </a:pPr>
            <a:r>
              <a:rPr b="0" i="0" lang="pt-BR" sz="95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Calcula 100% menos o tempo de CPU idle. irate() usa os últimos 2 pontos da janela [5m] para taxa instantânea.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5"/>
          <p:cNvSpPr/>
          <p:nvPr/>
        </p:nvSpPr>
        <p:spPr>
          <a:xfrm>
            <a:off x="320040" y="1828800"/>
            <a:ext cx="8503920" cy="960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5"/>
          <p:cNvSpPr/>
          <p:nvPr/>
        </p:nvSpPr>
        <p:spPr>
          <a:xfrm>
            <a:off x="320040" y="1828800"/>
            <a:ext cx="64008" cy="960120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25"/>
          <p:cNvSpPr/>
          <p:nvPr/>
        </p:nvSpPr>
        <p:spPr>
          <a:xfrm>
            <a:off x="502920" y="187452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Memória RAM em Uso (%)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5"/>
          <p:cNvSpPr/>
          <p:nvPr/>
        </p:nvSpPr>
        <p:spPr>
          <a:xfrm>
            <a:off x="502920" y="2176272"/>
            <a:ext cx="4297680" cy="475488"/>
          </a:xfrm>
          <a:prstGeom prst="rect">
            <a:avLst/>
          </a:prstGeom>
          <a:solidFill>
            <a:srgbClr val="0D2137"/>
          </a:solidFill>
          <a:ln cap="flat" cmpd="sng" w="12700">
            <a:solidFill>
              <a:srgbClr val="1E4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5"/>
          <p:cNvSpPr/>
          <p:nvPr/>
        </p:nvSpPr>
        <p:spPr>
          <a:xfrm>
            <a:off x="612648" y="2267712"/>
            <a:ext cx="4078224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F0"/>
              </a:buClr>
              <a:buSzPts val="950"/>
              <a:buFont typeface="Consolas"/>
              <a:buNone/>
            </a:pPr>
            <a:r>
              <a:rPr b="0" i="0" lang="pt-BR" sz="950" u="none" cap="none" strike="noStrike">
                <a:solidFill>
                  <a:srgbClr val="A8D8F0"/>
                </a:solidFill>
                <a:latin typeface="Consolas"/>
                <a:ea typeface="Consolas"/>
                <a:cs typeface="Consolas"/>
                <a:sym typeface="Consolas"/>
              </a:rPr>
              <a:t>(1 - (node_memory_MemAvailable_bytes / node_memory_MemTotal_bytes)) * 100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5"/>
          <p:cNvSpPr/>
          <p:nvPr/>
        </p:nvSpPr>
        <p:spPr>
          <a:xfrm>
            <a:off x="4937760" y="1920240"/>
            <a:ext cx="3794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50"/>
              <a:buFont typeface="Calibri"/>
              <a:buNone/>
            </a:pPr>
            <a:r>
              <a:rPr b="0" i="0" lang="pt-BR" sz="95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MemAvailable inclui cache/buffer liberável. Mais preciso que MemFree para representar RAM realmente disponível.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5"/>
          <p:cNvSpPr/>
          <p:nvPr/>
        </p:nvSpPr>
        <p:spPr>
          <a:xfrm>
            <a:off x="320040" y="2880360"/>
            <a:ext cx="8503920" cy="960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5"/>
          <p:cNvSpPr/>
          <p:nvPr/>
        </p:nvSpPr>
        <p:spPr>
          <a:xfrm>
            <a:off x="320040" y="2880360"/>
            <a:ext cx="64008" cy="96012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5"/>
          <p:cNvSpPr/>
          <p:nvPr/>
        </p:nvSpPr>
        <p:spPr>
          <a:xfrm>
            <a:off x="502920" y="292608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Espaço em Disco Usado (%)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5"/>
          <p:cNvSpPr/>
          <p:nvPr/>
        </p:nvSpPr>
        <p:spPr>
          <a:xfrm>
            <a:off x="502920" y="3227832"/>
            <a:ext cx="4297680" cy="475488"/>
          </a:xfrm>
          <a:prstGeom prst="rect">
            <a:avLst/>
          </a:prstGeom>
          <a:solidFill>
            <a:srgbClr val="0D2137"/>
          </a:solidFill>
          <a:ln cap="flat" cmpd="sng" w="12700">
            <a:solidFill>
              <a:srgbClr val="1E4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5"/>
          <p:cNvSpPr/>
          <p:nvPr/>
        </p:nvSpPr>
        <p:spPr>
          <a:xfrm>
            <a:off x="612648" y="3319272"/>
            <a:ext cx="4078224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F0"/>
              </a:buClr>
              <a:buSzPts val="950"/>
              <a:buFont typeface="Consolas"/>
              <a:buNone/>
            </a:pPr>
            <a:r>
              <a:rPr b="0" i="0" lang="pt-BR" sz="950" u="none" cap="none" strike="noStrike">
                <a:solidFill>
                  <a:srgbClr val="A8D8F0"/>
                </a:solidFill>
                <a:latin typeface="Consolas"/>
                <a:ea typeface="Consolas"/>
                <a:cs typeface="Consolas"/>
                <a:sym typeface="Consolas"/>
              </a:rPr>
              <a:t>(1 - (node_filesystem_avail_bytes{mountpoint="/"} / node_filesystem_size_bytes{mountpoint="/"})) * 100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5"/>
          <p:cNvSpPr/>
          <p:nvPr/>
        </p:nvSpPr>
        <p:spPr>
          <a:xfrm>
            <a:off x="4937760" y="2971800"/>
            <a:ext cx="3794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50"/>
              <a:buFont typeface="Calibri"/>
              <a:buNone/>
            </a:pPr>
            <a:r>
              <a:rPr b="0" i="0" lang="pt-BR" sz="95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Filtra pelo mountpoint raiz (/). avail_bytes representa o espaço disponível para usuários não-root.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5"/>
          <p:cNvSpPr/>
          <p:nvPr/>
        </p:nvSpPr>
        <p:spPr>
          <a:xfrm>
            <a:off x="320040" y="3931920"/>
            <a:ext cx="8503920" cy="960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5"/>
          <p:cNvSpPr/>
          <p:nvPr/>
        </p:nvSpPr>
        <p:spPr>
          <a:xfrm>
            <a:off x="320040" y="3931920"/>
            <a:ext cx="64008" cy="96012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5"/>
          <p:cNvSpPr/>
          <p:nvPr/>
        </p:nvSpPr>
        <p:spPr>
          <a:xfrm>
            <a:off x="502920" y="397764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Tráfego de Rede (Bytes/s)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5"/>
          <p:cNvSpPr/>
          <p:nvPr/>
        </p:nvSpPr>
        <p:spPr>
          <a:xfrm>
            <a:off x="502920" y="4279392"/>
            <a:ext cx="4297680" cy="475488"/>
          </a:xfrm>
          <a:prstGeom prst="rect">
            <a:avLst/>
          </a:prstGeom>
          <a:solidFill>
            <a:srgbClr val="0D2137"/>
          </a:solidFill>
          <a:ln cap="flat" cmpd="sng" w="12700">
            <a:solidFill>
              <a:srgbClr val="1E4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5"/>
          <p:cNvSpPr/>
          <p:nvPr/>
        </p:nvSpPr>
        <p:spPr>
          <a:xfrm>
            <a:off x="612648" y="4370832"/>
            <a:ext cx="4078224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F0"/>
              </a:buClr>
              <a:buSzPts val="950"/>
              <a:buFont typeface="Consolas"/>
              <a:buNone/>
            </a:pPr>
            <a:r>
              <a:rPr b="0" i="0" lang="pt-BR" sz="950" u="none" cap="none" strike="noStrike">
                <a:solidFill>
                  <a:srgbClr val="A8D8F0"/>
                </a:solidFill>
                <a:latin typeface="Consolas"/>
                <a:ea typeface="Consolas"/>
                <a:cs typeface="Consolas"/>
                <a:sym typeface="Consolas"/>
              </a:rPr>
              <a:t>irate(node_network_receive_bytes_total{device!="lo"}[5m])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5"/>
          <p:cNvSpPr/>
          <p:nvPr/>
        </p:nvSpPr>
        <p:spPr>
          <a:xfrm>
            <a:off x="4937760" y="4023360"/>
            <a:ext cx="3794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50"/>
              <a:buFont typeface="Calibri"/>
              <a:buNone/>
            </a:pPr>
            <a:r>
              <a:rPr b="0" i="0" lang="pt-BR" sz="95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Exclui a interface de loopback (lo). irate() é preferível para contadores com variação rápida.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5"/>
          <p:cNvSpPr/>
          <p:nvPr/>
        </p:nvSpPr>
        <p:spPr>
          <a:xfrm>
            <a:off x="8641080" y="485089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alibri"/>
              <a:buNone/>
            </a:pPr>
            <a:r>
              <a:rPr b="0" i="0" lang="pt-BR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6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6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pt-BR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Resultados — O Dashboard Provisionado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6"/>
          <p:cNvSpPr/>
          <p:nvPr/>
        </p:nvSpPr>
        <p:spPr>
          <a:xfrm>
            <a:off x="365760" y="777240"/>
            <a:ext cx="4023360" cy="105156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CFD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6"/>
          <p:cNvSpPr/>
          <p:nvPr/>
        </p:nvSpPr>
        <p:spPr>
          <a:xfrm>
            <a:off x="457200" y="850392"/>
            <a:ext cx="685800" cy="23774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6"/>
          <p:cNvSpPr/>
          <p:nvPr/>
        </p:nvSpPr>
        <p:spPr>
          <a:xfrm>
            <a:off x="457200" y="850392"/>
            <a:ext cx="685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GAUGE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6"/>
          <p:cNvSpPr/>
          <p:nvPr/>
        </p:nvSpPr>
        <p:spPr>
          <a:xfrm>
            <a:off x="1234440" y="832104"/>
            <a:ext cx="3063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CPU (%)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6"/>
          <p:cNvSpPr/>
          <p:nvPr/>
        </p:nvSpPr>
        <p:spPr>
          <a:xfrm>
            <a:off x="457200" y="1161288"/>
            <a:ext cx="38404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50"/>
              <a:buFont typeface="Calibri"/>
              <a:buNone/>
            </a:pPr>
            <a:r>
              <a:rPr b="0" i="0" lang="pt-BR" sz="95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Thresholds: verde &lt; 60%, amarelo 60-75%, laranja 75-80%, VERMELHO &gt; 80%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6"/>
          <p:cNvSpPr/>
          <p:nvPr/>
        </p:nvSpPr>
        <p:spPr>
          <a:xfrm>
            <a:off x="4754880" y="777240"/>
            <a:ext cx="4023360" cy="105156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CFD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6"/>
          <p:cNvSpPr/>
          <p:nvPr/>
        </p:nvSpPr>
        <p:spPr>
          <a:xfrm>
            <a:off x="4846320" y="850392"/>
            <a:ext cx="685800" cy="237744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6"/>
          <p:cNvSpPr/>
          <p:nvPr/>
        </p:nvSpPr>
        <p:spPr>
          <a:xfrm>
            <a:off x="4846320" y="850392"/>
            <a:ext cx="685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GAUGE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6"/>
          <p:cNvSpPr/>
          <p:nvPr/>
        </p:nvSpPr>
        <p:spPr>
          <a:xfrm>
            <a:off x="5623560" y="832104"/>
            <a:ext cx="3063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RAM (%)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6"/>
          <p:cNvSpPr/>
          <p:nvPr/>
        </p:nvSpPr>
        <p:spPr>
          <a:xfrm>
            <a:off x="4846320" y="1161288"/>
            <a:ext cx="38404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50"/>
              <a:buFont typeface="Calibri"/>
              <a:buNone/>
            </a:pPr>
            <a:r>
              <a:rPr b="0" i="0" lang="pt-BR" sz="95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Mesma escala de cores. Threshold vermelho em 80%. </a:t>
            </a:r>
            <a:r>
              <a:rPr lang="pt-BR" sz="950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Redução</a:t>
            </a:r>
            <a:r>
              <a:rPr b="0" i="0" lang="pt-BR" sz="95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950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automática</a:t>
            </a:r>
            <a:r>
              <a:rPr b="0" i="0" lang="pt-BR" sz="95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 do refresh.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6"/>
          <p:cNvSpPr/>
          <p:nvPr/>
        </p:nvSpPr>
        <p:spPr>
          <a:xfrm>
            <a:off x="365760" y="1920240"/>
            <a:ext cx="4023360" cy="105156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CFD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26"/>
          <p:cNvSpPr/>
          <p:nvPr/>
        </p:nvSpPr>
        <p:spPr>
          <a:xfrm>
            <a:off x="457200" y="1993392"/>
            <a:ext cx="685800" cy="23774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6"/>
          <p:cNvSpPr/>
          <p:nvPr/>
        </p:nvSpPr>
        <p:spPr>
          <a:xfrm>
            <a:off x="457200" y="1993392"/>
            <a:ext cx="685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GAUGE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6"/>
          <p:cNvSpPr/>
          <p:nvPr/>
        </p:nvSpPr>
        <p:spPr>
          <a:xfrm>
            <a:off x="1234440" y="1975104"/>
            <a:ext cx="3063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Disco (%)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6"/>
          <p:cNvSpPr/>
          <p:nvPr/>
        </p:nvSpPr>
        <p:spPr>
          <a:xfrm>
            <a:off x="457200" y="2304288"/>
            <a:ext cx="38404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50"/>
              <a:buFont typeface="Calibri"/>
              <a:buNone/>
            </a:pPr>
            <a:r>
              <a:rPr b="0" i="0" lang="pt-BR" sz="95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Threshold vermelho em 85%. Filtra apenas filesystem raiz (/), exclui tmpfs.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6"/>
          <p:cNvSpPr/>
          <p:nvPr/>
        </p:nvSpPr>
        <p:spPr>
          <a:xfrm>
            <a:off x="4754880" y="1920240"/>
            <a:ext cx="4023360" cy="105156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CFD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6"/>
          <p:cNvSpPr/>
          <p:nvPr/>
        </p:nvSpPr>
        <p:spPr>
          <a:xfrm>
            <a:off x="4846320" y="1993392"/>
            <a:ext cx="685800" cy="237744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6"/>
          <p:cNvSpPr/>
          <p:nvPr/>
        </p:nvSpPr>
        <p:spPr>
          <a:xfrm>
            <a:off x="4846320" y="1993392"/>
            <a:ext cx="685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6"/>
          <p:cNvSpPr/>
          <p:nvPr/>
        </p:nvSpPr>
        <p:spPr>
          <a:xfrm>
            <a:off x="5623560" y="1975104"/>
            <a:ext cx="3063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Uptime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6"/>
          <p:cNvSpPr/>
          <p:nvPr/>
        </p:nvSpPr>
        <p:spPr>
          <a:xfrm>
            <a:off x="4846320" y="2304288"/>
            <a:ext cx="38404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50"/>
              <a:buFont typeface="Calibri"/>
              <a:buNone/>
            </a:pPr>
            <a:r>
              <a:rPr b="0" i="0" lang="pt-BR" sz="95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Painel de valor </a:t>
            </a:r>
            <a:r>
              <a:rPr lang="pt-BR" sz="950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único</a:t>
            </a:r>
            <a:r>
              <a:rPr b="0" i="0" lang="pt-BR" sz="95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 mostrando tempo desde o </a:t>
            </a:r>
            <a:r>
              <a:rPr lang="pt-BR" sz="950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último</a:t>
            </a:r>
            <a:r>
              <a:rPr b="0" i="0" lang="pt-BR" sz="95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 boot do servidor.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6"/>
          <p:cNvSpPr/>
          <p:nvPr/>
        </p:nvSpPr>
        <p:spPr>
          <a:xfrm>
            <a:off x="365760" y="3063240"/>
            <a:ext cx="4023360" cy="105156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CFD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26"/>
          <p:cNvSpPr/>
          <p:nvPr/>
        </p:nvSpPr>
        <p:spPr>
          <a:xfrm>
            <a:off x="457200" y="3136392"/>
            <a:ext cx="685800" cy="237744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26"/>
          <p:cNvSpPr/>
          <p:nvPr/>
        </p:nvSpPr>
        <p:spPr>
          <a:xfrm>
            <a:off x="457200" y="3136392"/>
            <a:ext cx="685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GRAPH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6"/>
          <p:cNvSpPr/>
          <p:nvPr/>
        </p:nvSpPr>
        <p:spPr>
          <a:xfrm>
            <a:off x="1234440" y="3118104"/>
            <a:ext cx="3063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CPU ao longo do tempo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6"/>
          <p:cNvSpPr/>
          <p:nvPr/>
        </p:nvSpPr>
        <p:spPr>
          <a:xfrm>
            <a:off x="457200" y="3447288"/>
            <a:ext cx="38404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50"/>
              <a:buFont typeface="Calibri"/>
              <a:buNone/>
            </a:pPr>
            <a:r>
              <a:rPr lang="pt-BR" sz="950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Gráfico</a:t>
            </a:r>
            <a:r>
              <a:rPr b="0" i="0" lang="pt-BR" sz="95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 de linha com </a:t>
            </a:r>
            <a:r>
              <a:rPr lang="pt-BR" sz="950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área</a:t>
            </a:r>
            <a:r>
              <a:rPr b="0" i="0" lang="pt-BR" sz="95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, mostrando CPU Total, User e System. Linha de alerta em 80%.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6"/>
          <p:cNvSpPr/>
          <p:nvPr/>
        </p:nvSpPr>
        <p:spPr>
          <a:xfrm>
            <a:off x="4754880" y="3063240"/>
            <a:ext cx="4023360" cy="105156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CFD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26"/>
          <p:cNvSpPr/>
          <p:nvPr/>
        </p:nvSpPr>
        <p:spPr>
          <a:xfrm>
            <a:off x="4846320" y="3136392"/>
            <a:ext cx="685800" cy="237744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26"/>
          <p:cNvSpPr/>
          <p:nvPr/>
        </p:nvSpPr>
        <p:spPr>
          <a:xfrm>
            <a:off x="4846320" y="3136392"/>
            <a:ext cx="685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GRAPH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6"/>
          <p:cNvSpPr/>
          <p:nvPr/>
        </p:nvSpPr>
        <p:spPr>
          <a:xfrm>
            <a:off x="5623560" y="3118104"/>
            <a:ext cx="3063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RAM ao longo do tempo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6"/>
          <p:cNvSpPr/>
          <p:nvPr/>
        </p:nvSpPr>
        <p:spPr>
          <a:xfrm>
            <a:off x="4846320" y="3447288"/>
            <a:ext cx="38404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50"/>
              <a:buFont typeface="Calibri"/>
              <a:buNone/>
            </a:pPr>
            <a:r>
              <a:rPr b="0" i="0" lang="pt-BR" sz="95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RAM usada, buffers e cache ao longo do tempo. Threshold visual em 80%.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6"/>
          <p:cNvSpPr/>
          <p:nvPr/>
        </p:nvSpPr>
        <p:spPr>
          <a:xfrm>
            <a:off x="320040" y="4251960"/>
            <a:ext cx="8503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50"/>
              <a:buFont typeface="Calibri"/>
              <a:buNone/>
            </a:pPr>
            <a:r>
              <a:rPr b="0" i="0" lang="pt-BR" sz="95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+ Gráfico de Tráfego de Rede (full-width)  |  refresh automático a cada 10s  |  janela padrão: últimos 30 minutos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6"/>
          <p:cNvSpPr/>
          <p:nvPr/>
        </p:nvSpPr>
        <p:spPr>
          <a:xfrm>
            <a:off x="8641080" y="485089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alibri"/>
              <a:buNone/>
            </a:pPr>
            <a:r>
              <a:rPr b="0" i="0" lang="pt-BR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7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27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pt-BR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Resultados — Alertas Visuais (CPU &gt; 80%)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7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200"/>
              <a:buFont typeface="Calibri"/>
              <a:buNone/>
            </a:pPr>
            <a:r>
              <a:rPr b="1" i="0" lang="pt-BR" sz="120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Escala de Thresholds (Gauge + Time Series):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7"/>
          <p:cNvSpPr/>
          <p:nvPr/>
        </p:nvSpPr>
        <p:spPr>
          <a:xfrm>
            <a:off x="1143000" y="1143000"/>
            <a:ext cx="1645920" cy="914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27"/>
          <p:cNvSpPr/>
          <p:nvPr/>
        </p:nvSpPr>
        <p:spPr>
          <a:xfrm>
            <a:off x="1143000" y="1207008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pt-BR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NORMAL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7"/>
          <p:cNvSpPr/>
          <p:nvPr/>
        </p:nvSpPr>
        <p:spPr>
          <a:xfrm>
            <a:off x="1143000" y="1600200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pt-BR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 – 60%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7"/>
          <p:cNvSpPr/>
          <p:nvPr/>
        </p:nvSpPr>
        <p:spPr>
          <a:xfrm>
            <a:off x="2880360" y="1143000"/>
            <a:ext cx="1645920" cy="9144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27"/>
          <p:cNvSpPr/>
          <p:nvPr/>
        </p:nvSpPr>
        <p:spPr>
          <a:xfrm>
            <a:off x="2880360" y="1207008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400"/>
              <a:buFont typeface="Calibri"/>
              <a:buNone/>
            </a:pPr>
            <a:r>
              <a:rPr b="1" i="0" lang="pt-BR" sz="140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ATENÇÃO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7"/>
          <p:cNvSpPr/>
          <p:nvPr/>
        </p:nvSpPr>
        <p:spPr>
          <a:xfrm>
            <a:off x="2880360" y="1600200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100"/>
              <a:buFont typeface="Calibri"/>
              <a:buNone/>
            </a:pPr>
            <a:r>
              <a:rPr b="0" i="0" lang="pt-BR" sz="110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60 – 75%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7"/>
          <p:cNvSpPr/>
          <p:nvPr/>
        </p:nvSpPr>
        <p:spPr>
          <a:xfrm>
            <a:off x="4617720" y="1143000"/>
            <a:ext cx="1645920" cy="9144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27"/>
          <p:cNvSpPr/>
          <p:nvPr/>
        </p:nvSpPr>
        <p:spPr>
          <a:xfrm>
            <a:off x="4617720" y="1207008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pt-BR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ALERTA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7"/>
          <p:cNvSpPr/>
          <p:nvPr/>
        </p:nvSpPr>
        <p:spPr>
          <a:xfrm>
            <a:off x="4617720" y="1600200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pt-BR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75 – 80%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7"/>
          <p:cNvSpPr/>
          <p:nvPr/>
        </p:nvSpPr>
        <p:spPr>
          <a:xfrm>
            <a:off x="6355080" y="1143000"/>
            <a:ext cx="1645920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7"/>
          <p:cNvSpPr/>
          <p:nvPr/>
        </p:nvSpPr>
        <p:spPr>
          <a:xfrm>
            <a:off x="6355080" y="1207008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pt-BR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CRÍTICO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7"/>
          <p:cNvSpPr/>
          <p:nvPr/>
        </p:nvSpPr>
        <p:spPr>
          <a:xfrm>
            <a:off x="6355080" y="1600200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pt-BR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&gt; 80%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7"/>
          <p:cNvSpPr/>
          <p:nvPr/>
        </p:nvSpPr>
        <p:spPr>
          <a:xfrm>
            <a:off x="457200" y="22402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200"/>
              <a:buFont typeface="Calibri"/>
              <a:buNone/>
            </a:pPr>
            <a:r>
              <a:rPr b="1" i="0" lang="pt-BR" sz="120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Como simular carga para disparar o alerta: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7"/>
          <p:cNvSpPr/>
          <p:nvPr/>
        </p:nvSpPr>
        <p:spPr>
          <a:xfrm>
            <a:off x="457200" y="2633472"/>
            <a:ext cx="5029200" cy="1371600"/>
          </a:xfrm>
          <a:prstGeom prst="rect">
            <a:avLst/>
          </a:prstGeom>
          <a:solidFill>
            <a:srgbClr val="0D2137"/>
          </a:solidFill>
          <a:ln cap="flat" cmpd="sng" w="12700">
            <a:solidFill>
              <a:srgbClr val="1E4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27"/>
          <p:cNvSpPr/>
          <p:nvPr/>
        </p:nvSpPr>
        <p:spPr>
          <a:xfrm>
            <a:off x="566928" y="2724912"/>
            <a:ext cx="4809744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F0"/>
              </a:buClr>
              <a:buSzPts val="950"/>
              <a:buFont typeface="Consolas"/>
              <a:buNone/>
            </a:pPr>
            <a:r>
              <a:rPr b="0" i="0" lang="pt-BR" sz="950" u="none" cap="none" strike="noStrike">
                <a:solidFill>
                  <a:srgbClr val="A8D8F0"/>
                </a:solidFill>
                <a:latin typeface="Consolas"/>
                <a:ea typeface="Consolas"/>
                <a:cs typeface="Consolas"/>
                <a:sym typeface="Consolas"/>
              </a:rPr>
              <a:t># Instalar stress-ng (Ubuntu/Debian/WSL)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F0"/>
              </a:buClr>
              <a:buSzPts val="950"/>
              <a:buFont typeface="Consolas"/>
              <a:buNone/>
            </a:pPr>
            <a:r>
              <a:rPr b="0" i="0" lang="pt-BR" sz="950" u="none" cap="none" strike="noStrike">
                <a:solidFill>
                  <a:srgbClr val="A8D8F0"/>
                </a:solidFill>
                <a:latin typeface="Consolas"/>
                <a:ea typeface="Consolas"/>
                <a:cs typeface="Consolas"/>
                <a:sym typeface="Consolas"/>
              </a:rPr>
              <a:t>$ sudo apt install stress-ng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F0"/>
              </a:buClr>
              <a:buSzPts val="950"/>
              <a:buFont typeface="Consolas"/>
              <a:buNone/>
            </a:pPr>
            <a:r>
              <a:rPr b="0" i="0" lang="pt-BR" sz="950" u="none" cap="none" strike="noStrike">
                <a:solidFill>
                  <a:srgbClr val="A8D8F0"/>
                </a:solidFill>
                <a:latin typeface="Consolas"/>
                <a:ea typeface="Consolas"/>
                <a:cs typeface="Consolas"/>
                <a:sym typeface="Consolas"/>
              </a:rPr>
              <a:t># Script incluído no projeto (90% de CPU por 60 segundos)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F0"/>
              </a:buClr>
              <a:buSzPts val="950"/>
              <a:buFont typeface="Consolas"/>
              <a:buNone/>
            </a:pPr>
            <a:r>
              <a:rPr b="0" i="0" lang="pt-BR" sz="950" u="none" cap="none" strike="noStrike">
                <a:solidFill>
                  <a:srgbClr val="A8D8F0"/>
                </a:solidFill>
                <a:latin typeface="Consolas"/>
                <a:ea typeface="Consolas"/>
                <a:cs typeface="Consolas"/>
                <a:sym typeface="Consolas"/>
              </a:rPr>
              <a:t>$ chmod +x stress/stress.sh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F0"/>
              </a:buClr>
              <a:buSzPts val="950"/>
              <a:buFont typeface="Consolas"/>
              <a:buNone/>
            </a:pPr>
            <a:r>
              <a:rPr b="0" i="0" lang="pt-BR" sz="950" u="none" cap="none" strike="noStrike">
                <a:solidFill>
                  <a:srgbClr val="A8D8F0"/>
                </a:solidFill>
                <a:latin typeface="Consolas"/>
                <a:ea typeface="Consolas"/>
                <a:cs typeface="Consolas"/>
                <a:sym typeface="Consolas"/>
              </a:rPr>
              <a:t>$ ./stress/stress.sh 90 60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7"/>
          <p:cNvSpPr/>
          <p:nvPr/>
        </p:nvSpPr>
        <p:spPr>
          <a:xfrm>
            <a:off x="5623560" y="2633472"/>
            <a:ext cx="3200400" cy="1371600"/>
          </a:xfrm>
          <a:prstGeom prst="rect">
            <a:avLst/>
          </a:prstGeom>
          <a:solidFill>
            <a:srgbClr val="FFEBEE"/>
          </a:solidFill>
          <a:ln cap="flat" cmpd="sng" w="12700">
            <a:solidFill>
              <a:srgbClr val="C6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27"/>
          <p:cNvSpPr/>
          <p:nvPr/>
        </p:nvSpPr>
        <p:spPr>
          <a:xfrm>
            <a:off x="5715000" y="269748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C62828"/>
                </a:solidFill>
                <a:latin typeface="Calibri"/>
                <a:ea typeface="Calibri"/>
                <a:cs typeface="Calibri"/>
                <a:sym typeface="Calibri"/>
              </a:rPr>
              <a:t>Resultado esperado: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7"/>
          <p:cNvSpPr/>
          <p:nvPr/>
        </p:nvSpPr>
        <p:spPr>
          <a:xfrm>
            <a:off x="5715000" y="3035808"/>
            <a:ext cx="30175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1C1C"/>
              </a:buClr>
              <a:buSzPts val="1050"/>
              <a:buFont typeface="Calibri"/>
              <a:buNone/>
            </a:pPr>
            <a:r>
              <a:rPr b="0" i="0" lang="pt-BR" sz="1050" u="none" cap="none" strike="noStrike">
                <a:solidFill>
                  <a:srgbClr val="B71C1C"/>
                </a:solidFill>
                <a:latin typeface="Calibri"/>
                <a:ea typeface="Calibri"/>
                <a:cs typeface="Calibri"/>
                <a:sym typeface="Calibri"/>
              </a:rPr>
              <a:t>→ Gauge fica VERMELHO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1C1C"/>
              </a:buClr>
              <a:buSzPts val="1050"/>
              <a:buFont typeface="Calibri"/>
              <a:buNone/>
            </a:pPr>
            <a:r>
              <a:rPr b="0" i="0" lang="pt-BR" sz="1050" u="none" cap="none" strike="noStrike">
                <a:solidFill>
                  <a:srgbClr val="B71C1C"/>
                </a:solidFill>
                <a:latin typeface="Calibri"/>
                <a:ea typeface="Calibri"/>
                <a:cs typeface="Calibri"/>
                <a:sym typeface="Calibri"/>
              </a:rPr>
              <a:t>→ Linha de alerta visível no gráfico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1C1C"/>
              </a:buClr>
              <a:buSzPts val="1050"/>
              <a:buFont typeface="Calibri"/>
              <a:buNone/>
            </a:pPr>
            <a:r>
              <a:rPr b="0" i="0" lang="pt-BR" sz="1050" u="none" cap="none" strike="noStrike">
                <a:solidFill>
                  <a:srgbClr val="B71C1C"/>
                </a:solidFill>
                <a:latin typeface="Calibri"/>
                <a:ea typeface="Calibri"/>
                <a:cs typeface="Calibri"/>
                <a:sym typeface="Calibri"/>
              </a:rPr>
              <a:t>→ Valor instantâneo &gt; 80% confirmado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7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000"/>
              <a:buFont typeface="Calibri"/>
              <a:buNone/>
            </a:pPr>
            <a:r>
              <a:rPr b="0" i="0" lang="pt-BR" sz="10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Verifique também na interface do Prometheus (http://localhost:9090):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7"/>
          <p:cNvSpPr/>
          <p:nvPr/>
        </p:nvSpPr>
        <p:spPr>
          <a:xfrm>
            <a:off x="8641080" y="485089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alibri"/>
              <a:buNone/>
            </a:pPr>
            <a:r>
              <a:rPr b="0" i="0" lang="pt-BR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8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28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pt-BR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Referências Bibliográficas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8"/>
          <p:cNvSpPr/>
          <p:nvPr/>
        </p:nvSpPr>
        <p:spPr>
          <a:xfrm>
            <a:off x="320040" y="777240"/>
            <a:ext cx="8503920" cy="50292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28"/>
          <p:cNvSpPr/>
          <p:nvPr/>
        </p:nvSpPr>
        <p:spPr>
          <a:xfrm>
            <a:off x="457200" y="795528"/>
            <a:ext cx="8321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000"/>
              <a:buFont typeface="Calibri"/>
              <a:buNone/>
            </a:pPr>
            <a:r>
              <a:rPr b="0" i="0" lang="pt-BR" sz="100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[1] PROMETHEUS. Prometheus Documentation. Disponível em: https://prometheus.io/docs. Acesso em: jun. 2026.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8"/>
          <p:cNvSpPr/>
          <p:nvPr/>
        </p:nvSpPr>
        <p:spPr>
          <a:xfrm>
            <a:off x="320040" y="1344168"/>
            <a:ext cx="850392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28"/>
          <p:cNvSpPr/>
          <p:nvPr/>
        </p:nvSpPr>
        <p:spPr>
          <a:xfrm>
            <a:off x="457200" y="1362456"/>
            <a:ext cx="8321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000"/>
              <a:buFont typeface="Calibri"/>
              <a:buNone/>
            </a:pPr>
            <a:r>
              <a:rPr b="0" i="0" lang="pt-BR" sz="100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[2] GRAFANA LABS. Grafana Documentation. Disponível em: https://grafana.com/docs. Acesso em: jun. 2026.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8"/>
          <p:cNvSpPr/>
          <p:nvPr/>
        </p:nvSpPr>
        <p:spPr>
          <a:xfrm>
            <a:off x="320040" y="1911096"/>
            <a:ext cx="8503920" cy="50292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28"/>
          <p:cNvSpPr/>
          <p:nvPr/>
        </p:nvSpPr>
        <p:spPr>
          <a:xfrm>
            <a:off x="457200" y="1929384"/>
            <a:ext cx="8321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000"/>
              <a:buFont typeface="Calibri"/>
              <a:buNone/>
            </a:pPr>
            <a:r>
              <a:rPr b="0" i="0" lang="pt-BR" sz="100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[3] TANENBAUM, A. S.; WETHERALL, D. Redes de Computadores. 5. ed. São Paulo: Pearson, 2011.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8"/>
          <p:cNvSpPr/>
          <p:nvPr/>
        </p:nvSpPr>
        <p:spPr>
          <a:xfrm>
            <a:off x="320040" y="2478024"/>
            <a:ext cx="850392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28"/>
          <p:cNvSpPr/>
          <p:nvPr/>
        </p:nvSpPr>
        <p:spPr>
          <a:xfrm>
            <a:off x="457200" y="2496312"/>
            <a:ext cx="8321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000"/>
              <a:buFont typeface="Calibri"/>
              <a:buNone/>
            </a:pPr>
            <a:r>
              <a:rPr b="0" i="0" lang="pt-BR" sz="100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[4] IEEE Std 802.3-2022 — IEEE Standard for Ethernet. IEEE, 2022.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8"/>
          <p:cNvSpPr/>
          <p:nvPr/>
        </p:nvSpPr>
        <p:spPr>
          <a:xfrm>
            <a:off x="320040" y="3044952"/>
            <a:ext cx="8503920" cy="50292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28"/>
          <p:cNvSpPr/>
          <p:nvPr/>
        </p:nvSpPr>
        <p:spPr>
          <a:xfrm>
            <a:off x="457200" y="3063240"/>
            <a:ext cx="8321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000"/>
              <a:buFont typeface="Calibri"/>
              <a:buNone/>
            </a:pPr>
            <a:r>
              <a:rPr b="0" i="0" lang="pt-BR" sz="100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[5] TURNBULL, J. The Art of Monitoring. Turnbull Press, 2016.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8"/>
          <p:cNvSpPr/>
          <p:nvPr/>
        </p:nvSpPr>
        <p:spPr>
          <a:xfrm>
            <a:off x="320040" y="3611880"/>
            <a:ext cx="850392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28"/>
          <p:cNvSpPr/>
          <p:nvPr/>
        </p:nvSpPr>
        <p:spPr>
          <a:xfrm>
            <a:off x="457200" y="3630168"/>
            <a:ext cx="8321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000"/>
              <a:buFont typeface="Calibri"/>
              <a:buNone/>
            </a:pPr>
            <a:r>
              <a:rPr b="0" i="0" lang="pt-BR" sz="100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[6] BRENDAN GREGG. Systems Performance: Enterprise and the Cloud. 2. ed. Addison-Wesley, 2020.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8"/>
          <p:cNvSpPr/>
          <p:nvPr/>
        </p:nvSpPr>
        <p:spPr>
          <a:xfrm>
            <a:off x="320040" y="4178808"/>
            <a:ext cx="8503920" cy="50292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28"/>
          <p:cNvSpPr/>
          <p:nvPr/>
        </p:nvSpPr>
        <p:spPr>
          <a:xfrm>
            <a:off x="457200" y="4197096"/>
            <a:ext cx="8321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A"/>
              </a:buClr>
              <a:buSzPts val="1000"/>
              <a:buFont typeface="Calibri"/>
              <a:buNone/>
            </a:pPr>
            <a:r>
              <a:rPr b="0" i="0" lang="pt-BR" sz="1000" u="none" cap="none" strike="noStrike">
                <a:solidFill>
                  <a:srgbClr val="1C2B3A"/>
                </a:solidFill>
                <a:latin typeface="Calibri"/>
                <a:ea typeface="Calibri"/>
                <a:cs typeface="Calibri"/>
                <a:sym typeface="Calibri"/>
              </a:rPr>
              <a:t>[7] DOCKER. Docker Documentation — Compose. Disponível em: https://docs.docker.com/compose. Acesso em: jun. 2026.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8"/>
          <p:cNvSpPr/>
          <p:nvPr/>
        </p:nvSpPr>
        <p:spPr>
          <a:xfrm>
            <a:off x="8641080" y="485089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alibri"/>
              <a:buNone/>
            </a:pPr>
            <a:r>
              <a:rPr b="0" i="0" lang="pt-BR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9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29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29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7C00"/>
              </a:buClr>
              <a:buSzPts val="2400"/>
              <a:buFont typeface="Calibri"/>
              <a:buNone/>
            </a:pPr>
            <a:r>
              <a:rPr b="1" i="0" lang="pt-BR" sz="2400" u="none" cap="none" strike="noStrike">
                <a:solidFill>
                  <a:srgbClr val="F57C00"/>
                </a:solidFill>
                <a:latin typeface="Calibri"/>
                <a:ea typeface="Calibri"/>
                <a:cs typeface="Calibri"/>
                <a:sym typeface="Calibri"/>
              </a:rPr>
              <a:t>Conclusão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9"/>
          <p:cNvSpPr/>
          <p:nvPr/>
        </p:nvSpPr>
        <p:spPr>
          <a:xfrm>
            <a:off x="457200" y="868680"/>
            <a:ext cx="8229600" cy="685800"/>
          </a:xfrm>
          <a:prstGeom prst="rect">
            <a:avLst/>
          </a:prstGeom>
          <a:solidFill>
            <a:srgbClr val="1E3A5F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29"/>
          <p:cNvSpPr/>
          <p:nvPr/>
        </p:nvSpPr>
        <p:spPr>
          <a:xfrm>
            <a:off x="457200" y="868680"/>
            <a:ext cx="594360" cy="6858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9"/>
          <p:cNvSpPr/>
          <p:nvPr/>
        </p:nvSpPr>
        <p:spPr>
          <a:xfrm>
            <a:off x="457200" y="868680"/>
            <a:ext cx="594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pt-BR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9"/>
          <p:cNvSpPr/>
          <p:nvPr/>
        </p:nvSpPr>
        <p:spPr>
          <a:xfrm>
            <a:off x="1170432" y="941832"/>
            <a:ext cx="7406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150"/>
              <a:buFont typeface="Calibri"/>
              <a:buNone/>
            </a:pPr>
            <a:r>
              <a:rPr b="0" i="0" lang="pt-BR" sz="1150" u="none" cap="none" strike="noStrike">
                <a:solidFill>
                  <a:srgbClr val="E3F2FD"/>
                </a:solidFill>
                <a:latin typeface="Calibri"/>
                <a:ea typeface="Calibri"/>
                <a:cs typeface="Calibri"/>
                <a:sym typeface="Calibri"/>
              </a:rPr>
              <a:t>Stack 100% open-source e </a:t>
            </a:r>
            <a:r>
              <a:rPr lang="pt-BR" sz="1150">
                <a:solidFill>
                  <a:srgbClr val="E3F2FD"/>
                </a:solidFill>
                <a:latin typeface="Calibri"/>
                <a:ea typeface="Calibri"/>
                <a:cs typeface="Calibri"/>
                <a:sym typeface="Calibri"/>
              </a:rPr>
              <a:t>reproduzível</a:t>
            </a:r>
            <a:r>
              <a:rPr b="0" i="0" lang="pt-BR" sz="1150" u="none" cap="none" strike="noStrike">
                <a:solidFill>
                  <a:srgbClr val="E3F2FD"/>
                </a:solidFill>
                <a:latin typeface="Calibri"/>
                <a:ea typeface="Calibri"/>
                <a:cs typeface="Calibri"/>
                <a:sym typeface="Calibri"/>
              </a:rPr>
              <a:t> via Docker Compose em qualquer ambiente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9"/>
          <p:cNvSpPr/>
          <p:nvPr/>
        </p:nvSpPr>
        <p:spPr>
          <a:xfrm>
            <a:off x="457200" y="1664208"/>
            <a:ext cx="8229600" cy="685800"/>
          </a:xfrm>
          <a:prstGeom prst="rect">
            <a:avLst/>
          </a:prstGeom>
          <a:solidFill>
            <a:srgbClr val="1E3A5F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29"/>
          <p:cNvSpPr/>
          <p:nvPr/>
        </p:nvSpPr>
        <p:spPr>
          <a:xfrm>
            <a:off x="457200" y="1664208"/>
            <a:ext cx="594360" cy="6858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9"/>
          <p:cNvSpPr/>
          <p:nvPr/>
        </p:nvSpPr>
        <p:spPr>
          <a:xfrm>
            <a:off x="457200" y="1664208"/>
            <a:ext cx="594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pt-BR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9"/>
          <p:cNvSpPr/>
          <p:nvPr/>
        </p:nvSpPr>
        <p:spPr>
          <a:xfrm>
            <a:off x="1170432" y="1737360"/>
            <a:ext cx="7406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150"/>
              <a:buFont typeface="Calibri"/>
              <a:buNone/>
            </a:pPr>
            <a:r>
              <a:rPr b="0" i="0" lang="pt-BR" sz="1150" u="none" cap="none" strike="noStrike">
                <a:solidFill>
                  <a:srgbClr val="E3F2FD"/>
                </a:solidFill>
                <a:latin typeface="Calibri"/>
                <a:ea typeface="Calibri"/>
                <a:cs typeface="Calibri"/>
                <a:sym typeface="Calibri"/>
              </a:rPr>
              <a:t>Prometheus implementa o modelo pull, garantindo coleta ativa e armazenamento eficiente de </a:t>
            </a:r>
            <a:r>
              <a:rPr lang="pt-BR" sz="1150">
                <a:solidFill>
                  <a:srgbClr val="E3F2FD"/>
                </a:solidFill>
                <a:latin typeface="Calibri"/>
                <a:ea typeface="Calibri"/>
                <a:cs typeface="Calibri"/>
                <a:sym typeface="Calibri"/>
              </a:rPr>
              <a:t>séries</a:t>
            </a:r>
            <a:r>
              <a:rPr b="0" i="0" lang="pt-BR" sz="1150" u="none" cap="none" strike="noStrike">
                <a:solidFill>
                  <a:srgbClr val="E3F2FD"/>
                </a:solidFill>
                <a:latin typeface="Calibri"/>
                <a:ea typeface="Calibri"/>
                <a:cs typeface="Calibri"/>
                <a:sym typeface="Calibri"/>
              </a:rPr>
              <a:t> temporais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9"/>
          <p:cNvSpPr/>
          <p:nvPr/>
        </p:nvSpPr>
        <p:spPr>
          <a:xfrm>
            <a:off x="457200" y="2459736"/>
            <a:ext cx="8229600" cy="685800"/>
          </a:xfrm>
          <a:prstGeom prst="rect">
            <a:avLst/>
          </a:prstGeom>
          <a:solidFill>
            <a:srgbClr val="1E3A5F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29"/>
          <p:cNvSpPr/>
          <p:nvPr/>
        </p:nvSpPr>
        <p:spPr>
          <a:xfrm>
            <a:off x="457200" y="2459736"/>
            <a:ext cx="594360" cy="6858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29"/>
          <p:cNvSpPr/>
          <p:nvPr/>
        </p:nvSpPr>
        <p:spPr>
          <a:xfrm>
            <a:off x="457200" y="2459736"/>
            <a:ext cx="594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pt-BR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9"/>
          <p:cNvSpPr/>
          <p:nvPr/>
        </p:nvSpPr>
        <p:spPr>
          <a:xfrm>
            <a:off x="1170432" y="2532888"/>
            <a:ext cx="7406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150"/>
              <a:buFont typeface="Calibri"/>
              <a:buNone/>
            </a:pPr>
            <a:r>
              <a:rPr b="0" i="0" lang="pt-BR" sz="1150" u="none" cap="none" strike="noStrike">
                <a:solidFill>
                  <a:srgbClr val="E3F2FD"/>
                </a:solidFill>
                <a:latin typeface="Calibri"/>
                <a:ea typeface="Calibri"/>
                <a:cs typeface="Calibri"/>
                <a:sym typeface="Calibri"/>
              </a:rPr>
              <a:t>Grafana transforma dados brutos em </a:t>
            </a:r>
            <a:r>
              <a:rPr lang="pt-BR" sz="1150">
                <a:solidFill>
                  <a:srgbClr val="E3F2FD"/>
                </a:solidFill>
                <a:latin typeface="Calibri"/>
                <a:ea typeface="Calibri"/>
                <a:cs typeface="Calibri"/>
                <a:sym typeface="Calibri"/>
              </a:rPr>
              <a:t>painéis</a:t>
            </a:r>
            <a:r>
              <a:rPr b="0" i="0" lang="pt-BR" sz="1150" u="none" cap="none" strike="noStrike">
                <a:solidFill>
                  <a:srgbClr val="E3F2FD"/>
                </a:solidFill>
                <a:latin typeface="Calibri"/>
                <a:ea typeface="Calibri"/>
                <a:cs typeface="Calibri"/>
                <a:sym typeface="Calibri"/>
              </a:rPr>
              <a:t> visuais de tomada de </a:t>
            </a:r>
            <a:r>
              <a:rPr lang="pt-BR" sz="1150">
                <a:solidFill>
                  <a:srgbClr val="E3F2FD"/>
                </a:solidFill>
                <a:latin typeface="Calibri"/>
                <a:ea typeface="Calibri"/>
                <a:cs typeface="Calibri"/>
                <a:sym typeface="Calibri"/>
              </a:rPr>
              <a:t>decisão</a:t>
            </a:r>
            <a:r>
              <a:rPr b="0" i="0" lang="pt-BR" sz="1150" u="none" cap="none" strike="noStrike">
                <a:solidFill>
                  <a:srgbClr val="E3F2FD"/>
                </a:solidFill>
                <a:latin typeface="Calibri"/>
                <a:ea typeface="Calibri"/>
                <a:cs typeface="Calibri"/>
                <a:sym typeface="Calibri"/>
              </a:rPr>
              <a:t> (NOC) com alertas </a:t>
            </a:r>
            <a:r>
              <a:rPr lang="pt-BR" sz="1150">
                <a:solidFill>
                  <a:srgbClr val="E3F2FD"/>
                </a:solidFill>
                <a:latin typeface="Calibri"/>
                <a:ea typeface="Calibri"/>
                <a:cs typeface="Calibri"/>
                <a:sym typeface="Calibri"/>
              </a:rPr>
              <a:t>automáticos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9"/>
          <p:cNvSpPr/>
          <p:nvPr/>
        </p:nvSpPr>
        <p:spPr>
          <a:xfrm>
            <a:off x="457200" y="3255264"/>
            <a:ext cx="8229600" cy="685800"/>
          </a:xfrm>
          <a:prstGeom prst="rect">
            <a:avLst/>
          </a:prstGeom>
          <a:solidFill>
            <a:srgbClr val="1E3A5F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29"/>
          <p:cNvSpPr/>
          <p:nvPr/>
        </p:nvSpPr>
        <p:spPr>
          <a:xfrm>
            <a:off x="457200" y="3255264"/>
            <a:ext cx="594360" cy="6858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29"/>
          <p:cNvSpPr/>
          <p:nvPr/>
        </p:nvSpPr>
        <p:spPr>
          <a:xfrm>
            <a:off x="457200" y="3255264"/>
            <a:ext cx="594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pt-BR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9"/>
          <p:cNvSpPr/>
          <p:nvPr/>
        </p:nvSpPr>
        <p:spPr>
          <a:xfrm>
            <a:off x="1170432" y="3328416"/>
            <a:ext cx="7406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150"/>
              <a:buFont typeface="Calibri"/>
              <a:buNone/>
            </a:pPr>
            <a:r>
              <a:rPr b="0" i="0" lang="pt-BR" sz="1150" u="none" cap="none" strike="noStrike">
                <a:solidFill>
                  <a:srgbClr val="E3F2FD"/>
                </a:solidFill>
                <a:latin typeface="Calibri"/>
                <a:ea typeface="Calibri"/>
                <a:cs typeface="Calibri"/>
                <a:sym typeface="Calibri"/>
              </a:rPr>
              <a:t>Threshold em 80% de CPU permite </a:t>
            </a:r>
            <a:r>
              <a:rPr lang="pt-BR" sz="1150">
                <a:solidFill>
                  <a:srgbClr val="E3F2FD"/>
                </a:solidFill>
                <a:latin typeface="Calibri"/>
                <a:ea typeface="Calibri"/>
                <a:cs typeface="Calibri"/>
                <a:sym typeface="Calibri"/>
              </a:rPr>
              <a:t>detecção</a:t>
            </a:r>
            <a:r>
              <a:rPr b="0" i="0" lang="pt-BR" sz="1150" u="none" cap="none" strike="noStrike">
                <a:solidFill>
                  <a:srgbClr val="E3F2FD"/>
                </a:solidFill>
                <a:latin typeface="Calibri"/>
                <a:ea typeface="Calibri"/>
                <a:cs typeface="Calibri"/>
                <a:sym typeface="Calibri"/>
              </a:rPr>
              <a:t> proativa de problemas antes de impactar </a:t>
            </a:r>
            <a:r>
              <a:rPr lang="pt-BR" sz="1150">
                <a:solidFill>
                  <a:srgbClr val="E3F2FD"/>
                </a:solidFill>
                <a:latin typeface="Calibri"/>
                <a:ea typeface="Calibri"/>
                <a:cs typeface="Calibri"/>
                <a:sym typeface="Calibri"/>
              </a:rPr>
              <a:t>usuários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9"/>
          <p:cNvSpPr/>
          <p:nvPr/>
        </p:nvSpPr>
        <p:spPr>
          <a:xfrm>
            <a:off x="457200" y="4050792"/>
            <a:ext cx="8229600" cy="685800"/>
          </a:xfrm>
          <a:prstGeom prst="rect">
            <a:avLst/>
          </a:prstGeom>
          <a:solidFill>
            <a:srgbClr val="1E3A5F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29"/>
          <p:cNvSpPr/>
          <p:nvPr/>
        </p:nvSpPr>
        <p:spPr>
          <a:xfrm>
            <a:off x="457200" y="4050792"/>
            <a:ext cx="594360" cy="6858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29"/>
          <p:cNvSpPr/>
          <p:nvPr/>
        </p:nvSpPr>
        <p:spPr>
          <a:xfrm>
            <a:off x="457200" y="4050792"/>
            <a:ext cx="594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pt-BR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9"/>
          <p:cNvSpPr/>
          <p:nvPr/>
        </p:nvSpPr>
        <p:spPr>
          <a:xfrm>
            <a:off x="1170432" y="4123944"/>
            <a:ext cx="7406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150"/>
              <a:buFont typeface="Calibri"/>
              <a:buNone/>
            </a:pPr>
            <a:r>
              <a:rPr b="0" i="0" lang="pt-BR" sz="1150" u="none" cap="none" strike="noStrike">
                <a:solidFill>
                  <a:srgbClr val="E3F2FD"/>
                </a:solidFill>
                <a:latin typeface="Calibri"/>
                <a:ea typeface="Calibri"/>
                <a:cs typeface="Calibri"/>
                <a:sym typeface="Calibri"/>
              </a:rPr>
              <a:t>Projeto indexado no Zenodo/LabXP -- serve como guia </a:t>
            </a:r>
            <a:r>
              <a:rPr lang="pt-BR" sz="1150">
                <a:solidFill>
                  <a:srgbClr val="E3F2FD"/>
                </a:solidFill>
                <a:latin typeface="Calibri"/>
                <a:ea typeface="Calibri"/>
                <a:cs typeface="Calibri"/>
                <a:sym typeface="Calibri"/>
              </a:rPr>
              <a:t>técnico</a:t>
            </a:r>
            <a:r>
              <a:rPr b="0" i="0" lang="pt-BR" sz="1150" u="none" cap="none" strike="noStrike">
                <a:solidFill>
                  <a:srgbClr val="E3F2F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1150">
                <a:solidFill>
                  <a:srgbClr val="E3F2FD"/>
                </a:solidFill>
                <a:latin typeface="Calibri"/>
                <a:ea typeface="Calibri"/>
                <a:cs typeface="Calibri"/>
                <a:sym typeface="Calibri"/>
              </a:rPr>
              <a:t>replicável</a:t>
            </a:r>
            <a:r>
              <a:rPr b="0" i="0" lang="pt-BR" sz="1150" u="none" cap="none" strike="noStrike">
                <a:solidFill>
                  <a:srgbClr val="E3F2FD"/>
                </a:solidFill>
                <a:latin typeface="Calibri"/>
                <a:ea typeface="Calibri"/>
                <a:cs typeface="Calibri"/>
                <a:sym typeface="Calibri"/>
              </a:rPr>
              <a:t> para P2 e estudantes futuros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